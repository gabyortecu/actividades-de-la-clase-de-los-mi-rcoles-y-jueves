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obby Jones" charset="1" panose="00000000000000000000"/>
      <p:regular r:id="rId16"/>
    </p:embeddedFont>
    <p:embeddedFont>
      <p:font typeface="Lazydog" charset="1" panose="00000000000000000000"/>
      <p:regular r:id="rId17"/>
    </p:embeddedFont>
    <p:embeddedFont>
      <p:font typeface="Public Sans" charset="1" panose="00000000000000000000"/>
      <p:regular r:id="rId18"/>
    </p:embeddedFont>
    <p:embeddedFont>
      <p:font typeface="Public Sans Bold" charset="1" panose="00000000000000000000"/>
      <p:regular r:id="rId19"/>
    </p:embeddedFont>
    <p:embeddedFont>
      <p:font typeface="Inter" charset="1" panose="020B0502030000000004"/>
      <p:regular r:id="rId20"/>
    </p:embeddedFont>
    <p:embeddedFont>
      <p:font typeface="Inter Bold" charset="1" panose="020B080203000000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38.png" Type="http://schemas.openxmlformats.org/officeDocument/2006/relationships/image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39.png" Type="http://schemas.openxmlformats.org/officeDocument/2006/relationships/image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40.png" Type="http://schemas.openxmlformats.org/officeDocument/2006/relationships/image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41.jpeg" Type="http://schemas.openxmlformats.org/officeDocument/2006/relationships/image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42.png" Type="http://schemas.openxmlformats.org/officeDocument/2006/relationships/image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10.png" Type="http://schemas.openxmlformats.org/officeDocument/2006/relationships/image"/><Relationship Id="rId15" Target="../media/image11.svg" Type="http://schemas.openxmlformats.org/officeDocument/2006/relationships/image"/><Relationship Id="rId16" Target="../media/image12.png" Type="http://schemas.openxmlformats.org/officeDocument/2006/relationships/image"/><Relationship Id="rId17" Target="../media/image13.svg" Type="http://schemas.openxmlformats.org/officeDocument/2006/relationships/image"/><Relationship Id="rId18" Target="../media/image14.png" Type="http://schemas.openxmlformats.org/officeDocument/2006/relationships/image"/><Relationship Id="rId19" Target="../media/image15.svg" Type="http://schemas.openxmlformats.org/officeDocument/2006/relationships/image"/><Relationship Id="rId2" Target="../media/image1.jpeg" Type="http://schemas.openxmlformats.org/officeDocument/2006/relationships/image"/><Relationship Id="rId20" Target="../media/image16.png" Type="http://schemas.openxmlformats.org/officeDocument/2006/relationships/image"/><Relationship Id="rId21" Target="../media/image17.svg" Type="http://schemas.openxmlformats.org/officeDocument/2006/relationships/image"/><Relationship Id="rId22" Target="../media/image18.png" Type="http://schemas.openxmlformats.org/officeDocument/2006/relationships/image"/><Relationship Id="rId23" Target="../media/image19.svg" Type="http://schemas.openxmlformats.org/officeDocument/2006/relationships/image"/><Relationship Id="rId24" Target="../media/image20.png" Type="http://schemas.openxmlformats.org/officeDocument/2006/relationships/image"/><Relationship Id="rId25" Target="../media/image21.svg" Type="http://schemas.openxmlformats.org/officeDocument/2006/relationships/image"/><Relationship Id="rId26" Target="../media/image22.png" Type="http://schemas.openxmlformats.org/officeDocument/2006/relationships/image"/><Relationship Id="rId27" Target="../media/image23.svg" Type="http://schemas.openxmlformats.org/officeDocument/2006/relationships/image"/><Relationship Id="rId28" Target="../media/image24.png" Type="http://schemas.openxmlformats.org/officeDocument/2006/relationships/image"/><Relationship Id="rId29" Target="../media/image25.svg" Type="http://schemas.openxmlformats.org/officeDocument/2006/relationships/image"/><Relationship Id="rId3" Target="../media/image43.png" Type="http://schemas.openxmlformats.org/officeDocument/2006/relationships/image"/><Relationship Id="rId30" Target="../media/image26.png" Type="http://schemas.openxmlformats.org/officeDocument/2006/relationships/image"/><Relationship Id="rId31" Target="../media/image27.svg" Type="http://schemas.openxmlformats.org/officeDocument/2006/relationships/image"/><Relationship Id="rId32" Target="../media/image28.png" Type="http://schemas.openxmlformats.org/officeDocument/2006/relationships/image"/><Relationship Id="rId33" Target="../media/image29.svg" Type="http://schemas.openxmlformats.org/officeDocument/2006/relationships/image"/><Relationship Id="rId34" Target="../media/image46.png" Type="http://schemas.openxmlformats.org/officeDocument/2006/relationships/image"/><Relationship Id="rId35" Target="../media/image47.png" Type="http://schemas.openxmlformats.org/officeDocument/2006/relationships/image"/><Relationship Id="rId36" Target="../media/image48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43763" y="2910570"/>
            <a:ext cx="7396306" cy="1546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86"/>
              </a:lnSpc>
            </a:pPr>
            <a:r>
              <a:rPr lang="en-US" sz="10072" spc="-171">
                <a:solidFill>
                  <a:srgbClr val="E5DED8"/>
                </a:solidFill>
                <a:latin typeface="Bobby Jones"/>
                <a:ea typeface="Bobby Jones"/>
                <a:cs typeface="Bobby Jones"/>
                <a:sym typeface="Bobby Jones"/>
              </a:rPr>
              <a:t>Proyecto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137986">
            <a:off x="4433288" y="2727497"/>
            <a:ext cx="1313213" cy="1196218"/>
          </a:xfrm>
          <a:custGeom>
            <a:avLst/>
            <a:gdLst/>
            <a:ahLst/>
            <a:cxnLst/>
            <a:rect r="r" b="b" t="t" l="l"/>
            <a:pathLst>
              <a:path h="1196218" w="1313213">
                <a:moveTo>
                  <a:pt x="0" y="0"/>
                </a:moveTo>
                <a:lnTo>
                  <a:pt x="1313214" y="0"/>
                </a:lnTo>
                <a:lnTo>
                  <a:pt x="1313214" y="1196217"/>
                </a:lnTo>
                <a:lnTo>
                  <a:pt x="0" y="1196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610500">
            <a:off x="12625098" y="3221054"/>
            <a:ext cx="1263393" cy="1150836"/>
          </a:xfrm>
          <a:custGeom>
            <a:avLst/>
            <a:gdLst/>
            <a:ahLst/>
            <a:cxnLst/>
            <a:rect r="r" b="b" t="t" l="l"/>
            <a:pathLst>
              <a:path h="1150836" w="1263393">
                <a:moveTo>
                  <a:pt x="0" y="0"/>
                </a:moveTo>
                <a:lnTo>
                  <a:pt x="1263392" y="0"/>
                </a:lnTo>
                <a:lnTo>
                  <a:pt x="1263392" y="1150836"/>
                </a:lnTo>
                <a:lnTo>
                  <a:pt x="0" y="11508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78946" y="7208659"/>
            <a:ext cx="897957" cy="1287393"/>
          </a:xfrm>
          <a:custGeom>
            <a:avLst/>
            <a:gdLst/>
            <a:ahLst/>
            <a:cxnLst/>
            <a:rect r="r" b="b" t="t" l="l"/>
            <a:pathLst>
              <a:path h="1287393" w="897957">
                <a:moveTo>
                  <a:pt x="0" y="0"/>
                </a:moveTo>
                <a:lnTo>
                  <a:pt x="897956" y="0"/>
                </a:lnTo>
                <a:lnTo>
                  <a:pt x="897956" y="1287393"/>
                </a:lnTo>
                <a:lnTo>
                  <a:pt x="0" y="12873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559176" y="-1610176"/>
            <a:ext cx="2345750" cy="2796721"/>
          </a:xfrm>
          <a:custGeom>
            <a:avLst/>
            <a:gdLst/>
            <a:ahLst/>
            <a:cxnLst/>
            <a:rect r="r" b="b" t="t" l="l"/>
            <a:pathLst>
              <a:path h="2796721" w="2345750">
                <a:moveTo>
                  <a:pt x="0" y="0"/>
                </a:moveTo>
                <a:lnTo>
                  <a:pt x="2345750" y="0"/>
                </a:lnTo>
                <a:lnTo>
                  <a:pt x="2345750" y="2796721"/>
                </a:lnTo>
                <a:lnTo>
                  <a:pt x="0" y="27967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607968" y="-2416786"/>
            <a:ext cx="3364048" cy="3445486"/>
          </a:xfrm>
          <a:custGeom>
            <a:avLst/>
            <a:gdLst/>
            <a:ahLst/>
            <a:cxnLst/>
            <a:rect r="r" b="b" t="t" l="l"/>
            <a:pathLst>
              <a:path h="3445486" w="3364048">
                <a:moveTo>
                  <a:pt x="0" y="0"/>
                </a:moveTo>
                <a:lnTo>
                  <a:pt x="3364047" y="0"/>
                </a:lnTo>
                <a:lnTo>
                  <a:pt x="3364047" y="3445486"/>
                </a:lnTo>
                <a:lnTo>
                  <a:pt x="0" y="34454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474734" y="9106435"/>
            <a:ext cx="3632113" cy="3720041"/>
          </a:xfrm>
          <a:custGeom>
            <a:avLst/>
            <a:gdLst/>
            <a:ahLst/>
            <a:cxnLst/>
            <a:rect r="r" b="b" t="t" l="l"/>
            <a:pathLst>
              <a:path h="3720041" w="3632113">
                <a:moveTo>
                  <a:pt x="0" y="0"/>
                </a:moveTo>
                <a:lnTo>
                  <a:pt x="3632112" y="0"/>
                </a:lnTo>
                <a:lnTo>
                  <a:pt x="3632112" y="3720041"/>
                </a:lnTo>
                <a:lnTo>
                  <a:pt x="0" y="37200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727099" y="2891503"/>
            <a:ext cx="3035552" cy="1981387"/>
          </a:xfrm>
          <a:custGeom>
            <a:avLst/>
            <a:gdLst/>
            <a:ahLst/>
            <a:cxnLst/>
            <a:rect r="r" b="b" t="t" l="l"/>
            <a:pathLst>
              <a:path h="1981387" w="3035552">
                <a:moveTo>
                  <a:pt x="0" y="0"/>
                </a:moveTo>
                <a:lnTo>
                  <a:pt x="3035552" y="0"/>
                </a:lnTo>
                <a:lnTo>
                  <a:pt x="3035552" y="1981387"/>
                </a:lnTo>
                <a:lnTo>
                  <a:pt x="0" y="198138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014757" y="2055289"/>
            <a:ext cx="4043457" cy="3653815"/>
          </a:xfrm>
          <a:custGeom>
            <a:avLst/>
            <a:gdLst/>
            <a:ahLst/>
            <a:cxnLst/>
            <a:rect r="r" b="b" t="t" l="l"/>
            <a:pathLst>
              <a:path h="3653815" w="4043457">
                <a:moveTo>
                  <a:pt x="0" y="0"/>
                </a:moveTo>
                <a:lnTo>
                  <a:pt x="4043457" y="0"/>
                </a:lnTo>
                <a:lnTo>
                  <a:pt x="4043457" y="3653815"/>
                </a:lnTo>
                <a:lnTo>
                  <a:pt x="0" y="365381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86971" y="92745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11600" y="-930666"/>
            <a:ext cx="5825142" cy="1959366"/>
          </a:xfrm>
          <a:custGeom>
            <a:avLst/>
            <a:gdLst/>
            <a:ahLst/>
            <a:cxnLst/>
            <a:rect r="r" b="b" t="t" l="l"/>
            <a:pathLst>
              <a:path h="1959366" w="5825142">
                <a:moveTo>
                  <a:pt x="0" y="0"/>
                </a:moveTo>
                <a:lnTo>
                  <a:pt x="5825142" y="0"/>
                </a:lnTo>
                <a:lnTo>
                  <a:pt x="5825142" y="1959366"/>
                </a:lnTo>
                <a:lnTo>
                  <a:pt x="0" y="195936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89895" y="9451010"/>
            <a:ext cx="4562782" cy="4114800"/>
          </a:xfrm>
          <a:custGeom>
            <a:avLst/>
            <a:gdLst/>
            <a:ahLst/>
            <a:cxnLst/>
            <a:rect r="r" b="b" t="t" l="l"/>
            <a:pathLst>
              <a:path h="4114800" w="4562782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524051" y="-561429"/>
            <a:ext cx="3441648" cy="2415411"/>
          </a:xfrm>
          <a:custGeom>
            <a:avLst/>
            <a:gdLst/>
            <a:ahLst/>
            <a:cxnLst/>
            <a:rect r="r" b="b" t="t" l="l"/>
            <a:pathLst>
              <a:path h="2415411" w="3441648">
                <a:moveTo>
                  <a:pt x="0" y="0"/>
                </a:moveTo>
                <a:lnTo>
                  <a:pt x="3441648" y="0"/>
                </a:lnTo>
                <a:lnTo>
                  <a:pt x="3441648" y="2415412"/>
                </a:lnTo>
                <a:lnTo>
                  <a:pt x="0" y="241541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180289" y="-2260817"/>
            <a:ext cx="4360578" cy="4114800"/>
          </a:xfrm>
          <a:custGeom>
            <a:avLst/>
            <a:gdLst/>
            <a:ahLst/>
            <a:cxnLst/>
            <a:rect r="r" b="b" t="t" l="l"/>
            <a:pathLst>
              <a:path h="4114800" w="4360578">
                <a:moveTo>
                  <a:pt x="0" y="0"/>
                </a:moveTo>
                <a:lnTo>
                  <a:pt x="4360578" y="0"/>
                </a:lnTo>
                <a:lnTo>
                  <a:pt x="436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88800" y="9075150"/>
            <a:ext cx="5280295" cy="1891306"/>
          </a:xfrm>
          <a:custGeom>
            <a:avLst/>
            <a:gdLst/>
            <a:ahLst/>
            <a:cxnLst/>
            <a:rect r="r" b="b" t="t" l="l"/>
            <a:pathLst>
              <a:path h="1891306" w="5280295">
                <a:moveTo>
                  <a:pt x="0" y="0"/>
                </a:moveTo>
                <a:lnTo>
                  <a:pt x="5280295" y="0"/>
                </a:lnTo>
                <a:lnTo>
                  <a:pt x="5280295" y="1891306"/>
                </a:lnTo>
                <a:lnTo>
                  <a:pt x="0" y="189130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534082" y="5159704"/>
            <a:ext cx="4562782" cy="4114800"/>
          </a:xfrm>
          <a:custGeom>
            <a:avLst/>
            <a:gdLst/>
            <a:ahLst/>
            <a:cxnLst/>
            <a:rect r="r" b="b" t="t" l="l"/>
            <a:pathLst>
              <a:path h="4114800" w="4562782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556578" y="4615699"/>
            <a:ext cx="10894491" cy="306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86"/>
              </a:lnSpc>
            </a:pPr>
            <a:r>
              <a:rPr lang="en-US" sz="10072" spc="-171">
                <a:solidFill>
                  <a:srgbClr val="E5DED8"/>
                </a:solidFill>
                <a:latin typeface="Bobby Jones"/>
                <a:ea typeface="Bobby Jones"/>
                <a:cs typeface="Bobby Jones"/>
                <a:sym typeface="Bobby Jones"/>
              </a:rPr>
              <a:t>Vectores y matrices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49800" y="7245060"/>
            <a:ext cx="1114376" cy="1597671"/>
          </a:xfrm>
          <a:custGeom>
            <a:avLst/>
            <a:gdLst/>
            <a:ahLst/>
            <a:cxnLst/>
            <a:rect r="r" b="b" t="t" l="l"/>
            <a:pathLst>
              <a:path h="1597671" w="1114376">
                <a:moveTo>
                  <a:pt x="0" y="0"/>
                </a:moveTo>
                <a:lnTo>
                  <a:pt x="1114376" y="0"/>
                </a:lnTo>
                <a:lnTo>
                  <a:pt x="1114376" y="1597671"/>
                </a:lnTo>
                <a:lnTo>
                  <a:pt x="0" y="1597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882105" y="-2416786"/>
            <a:ext cx="3364048" cy="3445486"/>
          </a:xfrm>
          <a:custGeom>
            <a:avLst/>
            <a:gdLst/>
            <a:ahLst/>
            <a:cxnLst/>
            <a:rect r="r" b="b" t="t" l="l"/>
            <a:pathLst>
              <a:path h="3445486" w="3364048">
                <a:moveTo>
                  <a:pt x="0" y="0"/>
                </a:moveTo>
                <a:lnTo>
                  <a:pt x="3364047" y="0"/>
                </a:lnTo>
                <a:lnTo>
                  <a:pt x="3364047" y="3445486"/>
                </a:lnTo>
                <a:lnTo>
                  <a:pt x="0" y="3445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993723" y="9258300"/>
            <a:ext cx="2835055" cy="2903688"/>
          </a:xfrm>
          <a:custGeom>
            <a:avLst/>
            <a:gdLst/>
            <a:ahLst/>
            <a:cxnLst/>
            <a:rect r="r" b="b" t="t" l="l"/>
            <a:pathLst>
              <a:path h="2903688" w="2835055">
                <a:moveTo>
                  <a:pt x="0" y="0"/>
                </a:moveTo>
                <a:lnTo>
                  <a:pt x="2835055" y="0"/>
                </a:lnTo>
                <a:lnTo>
                  <a:pt x="2835055" y="2903688"/>
                </a:lnTo>
                <a:lnTo>
                  <a:pt x="0" y="2903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3195732" y="1489685"/>
            <a:ext cx="4043457" cy="3653815"/>
          </a:xfrm>
          <a:custGeom>
            <a:avLst/>
            <a:gdLst/>
            <a:ahLst/>
            <a:cxnLst/>
            <a:rect r="r" b="b" t="t" l="l"/>
            <a:pathLst>
              <a:path h="3653815" w="4043457">
                <a:moveTo>
                  <a:pt x="0" y="0"/>
                </a:moveTo>
                <a:lnTo>
                  <a:pt x="4043457" y="0"/>
                </a:lnTo>
                <a:lnTo>
                  <a:pt x="4043457" y="3653815"/>
                </a:lnTo>
                <a:lnTo>
                  <a:pt x="0" y="3653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1899203" y="-1792157"/>
            <a:ext cx="3798405" cy="3584313"/>
          </a:xfrm>
          <a:custGeom>
            <a:avLst/>
            <a:gdLst/>
            <a:ahLst/>
            <a:cxnLst/>
            <a:rect r="r" b="b" t="t" l="l"/>
            <a:pathLst>
              <a:path h="3584313" w="3798405">
                <a:moveTo>
                  <a:pt x="0" y="0"/>
                </a:moveTo>
                <a:lnTo>
                  <a:pt x="3798406" y="0"/>
                </a:lnTo>
                <a:lnTo>
                  <a:pt x="3798406" y="3584314"/>
                </a:lnTo>
                <a:lnTo>
                  <a:pt x="0" y="3584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4028" y="9106435"/>
            <a:ext cx="5280295" cy="1891306"/>
          </a:xfrm>
          <a:custGeom>
            <a:avLst/>
            <a:gdLst/>
            <a:ahLst/>
            <a:cxnLst/>
            <a:rect r="r" b="b" t="t" l="l"/>
            <a:pathLst>
              <a:path h="1891306" w="5280295">
                <a:moveTo>
                  <a:pt x="0" y="0"/>
                </a:moveTo>
                <a:lnTo>
                  <a:pt x="5280295" y="0"/>
                </a:lnTo>
                <a:lnTo>
                  <a:pt x="5280295" y="1891306"/>
                </a:lnTo>
                <a:lnTo>
                  <a:pt x="0" y="1891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869510" y="2551083"/>
            <a:ext cx="7977633" cy="5318422"/>
          </a:xfrm>
          <a:custGeom>
            <a:avLst/>
            <a:gdLst/>
            <a:ahLst/>
            <a:cxnLst/>
            <a:rect r="r" b="b" t="t" l="l"/>
            <a:pathLst>
              <a:path h="5318422" w="7977633">
                <a:moveTo>
                  <a:pt x="0" y="0"/>
                </a:moveTo>
                <a:lnTo>
                  <a:pt x="7977633" y="0"/>
                </a:lnTo>
                <a:lnTo>
                  <a:pt x="7977633" y="5318422"/>
                </a:lnTo>
                <a:lnTo>
                  <a:pt x="0" y="53184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04950" y="3266004"/>
            <a:ext cx="8202295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690"/>
              </a:lnSpc>
            </a:pPr>
            <a:r>
              <a:rPr lang="en-US" sz="8500">
                <a:solidFill>
                  <a:srgbClr val="E5DED8"/>
                </a:solidFill>
                <a:latin typeface="Lazydog"/>
                <a:ea typeface="Lazydog"/>
                <a:cs typeface="Lazydog"/>
                <a:sym typeface="Lazydog"/>
              </a:rPr>
              <a:t>Introduccción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4950" y="5153144"/>
            <a:ext cx="7782679" cy="180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E5DED8"/>
                </a:solidFill>
                <a:latin typeface="Public Sans"/>
                <a:ea typeface="Public Sans"/>
                <a:cs typeface="Public Sans"/>
                <a:sym typeface="Public Sans"/>
              </a:rPr>
              <a:t>En programación muchas veces se necesita guardar varios datos pero sin crear una variable diferente para cada uno. Por ejemplo si se quiere guardar información de los nombres, edades, o la canciones favoritas de alguien se pueden usar vectores y matrices.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49800" y="7245060"/>
            <a:ext cx="1114376" cy="1597671"/>
          </a:xfrm>
          <a:custGeom>
            <a:avLst/>
            <a:gdLst/>
            <a:ahLst/>
            <a:cxnLst/>
            <a:rect r="r" b="b" t="t" l="l"/>
            <a:pathLst>
              <a:path h="1597671" w="1114376">
                <a:moveTo>
                  <a:pt x="0" y="0"/>
                </a:moveTo>
                <a:lnTo>
                  <a:pt x="1114376" y="0"/>
                </a:lnTo>
                <a:lnTo>
                  <a:pt x="1114376" y="1597671"/>
                </a:lnTo>
                <a:lnTo>
                  <a:pt x="0" y="1597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882105" y="-2416786"/>
            <a:ext cx="3364048" cy="3445486"/>
          </a:xfrm>
          <a:custGeom>
            <a:avLst/>
            <a:gdLst/>
            <a:ahLst/>
            <a:cxnLst/>
            <a:rect r="r" b="b" t="t" l="l"/>
            <a:pathLst>
              <a:path h="3445486" w="3364048">
                <a:moveTo>
                  <a:pt x="0" y="0"/>
                </a:moveTo>
                <a:lnTo>
                  <a:pt x="3364047" y="0"/>
                </a:lnTo>
                <a:lnTo>
                  <a:pt x="3364047" y="3445486"/>
                </a:lnTo>
                <a:lnTo>
                  <a:pt x="0" y="3445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993723" y="9258300"/>
            <a:ext cx="2835055" cy="2903688"/>
          </a:xfrm>
          <a:custGeom>
            <a:avLst/>
            <a:gdLst/>
            <a:ahLst/>
            <a:cxnLst/>
            <a:rect r="r" b="b" t="t" l="l"/>
            <a:pathLst>
              <a:path h="2903688" w="2835055">
                <a:moveTo>
                  <a:pt x="0" y="0"/>
                </a:moveTo>
                <a:lnTo>
                  <a:pt x="2835055" y="0"/>
                </a:lnTo>
                <a:lnTo>
                  <a:pt x="2835055" y="2903688"/>
                </a:lnTo>
                <a:lnTo>
                  <a:pt x="0" y="2903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3195732" y="1489685"/>
            <a:ext cx="4043457" cy="3653815"/>
          </a:xfrm>
          <a:custGeom>
            <a:avLst/>
            <a:gdLst/>
            <a:ahLst/>
            <a:cxnLst/>
            <a:rect r="r" b="b" t="t" l="l"/>
            <a:pathLst>
              <a:path h="3653815" w="4043457">
                <a:moveTo>
                  <a:pt x="0" y="0"/>
                </a:moveTo>
                <a:lnTo>
                  <a:pt x="4043457" y="0"/>
                </a:lnTo>
                <a:lnTo>
                  <a:pt x="4043457" y="3653815"/>
                </a:lnTo>
                <a:lnTo>
                  <a:pt x="0" y="3653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1899203" y="-1792157"/>
            <a:ext cx="3798405" cy="3584313"/>
          </a:xfrm>
          <a:custGeom>
            <a:avLst/>
            <a:gdLst/>
            <a:ahLst/>
            <a:cxnLst/>
            <a:rect r="r" b="b" t="t" l="l"/>
            <a:pathLst>
              <a:path h="3584313" w="3798405">
                <a:moveTo>
                  <a:pt x="0" y="0"/>
                </a:moveTo>
                <a:lnTo>
                  <a:pt x="3798406" y="0"/>
                </a:lnTo>
                <a:lnTo>
                  <a:pt x="3798406" y="3584314"/>
                </a:lnTo>
                <a:lnTo>
                  <a:pt x="0" y="3584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4028" y="9106435"/>
            <a:ext cx="5280295" cy="1891306"/>
          </a:xfrm>
          <a:custGeom>
            <a:avLst/>
            <a:gdLst/>
            <a:ahLst/>
            <a:cxnLst/>
            <a:rect r="r" b="b" t="t" l="l"/>
            <a:pathLst>
              <a:path h="1891306" w="5280295">
                <a:moveTo>
                  <a:pt x="0" y="0"/>
                </a:moveTo>
                <a:lnTo>
                  <a:pt x="5280295" y="0"/>
                </a:lnTo>
                <a:lnTo>
                  <a:pt x="5280295" y="1891306"/>
                </a:lnTo>
                <a:lnTo>
                  <a:pt x="0" y="1891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9517785" y="1028700"/>
            <a:ext cx="8244043" cy="7814031"/>
            <a:chOff x="0" y="0"/>
            <a:chExt cx="6692746" cy="6343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92746" cy="6343650"/>
            </a:xfrm>
            <a:custGeom>
              <a:avLst/>
              <a:gdLst/>
              <a:ahLst/>
              <a:cxnLst/>
              <a:rect r="r" b="b" t="t" l="l"/>
              <a:pathLst>
                <a:path h="6343650" w="6692746">
                  <a:moveTo>
                    <a:pt x="6692746" y="738886"/>
                  </a:moveTo>
                  <a:lnTo>
                    <a:pt x="6692746" y="5533771"/>
                  </a:lnTo>
                  <a:lnTo>
                    <a:pt x="6692602" y="5533771"/>
                  </a:lnTo>
                  <a:cubicBezTo>
                    <a:pt x="6692602" y="5537200"/>
                    <a:pt x="6692746" y="5540756"/>
                    <a:pt x="6692746" y="5544185"/>
                  </a:cubicBezTo>
                  <a:cubicBezTo>
                    <a:pt x="6692746" y="5985764"/>
                    <a:pt x="6290104" y="6343650"/>
                    <a:pt x="5793302" y="6343650"/>
                  </a:cubicBezTo>
                  <a:cubicBezTo>
                    <a:pt x="5556975" y="6343650"/>
                    <a:pt x="5342080" y="6262624"/>
                    <a:pt x="5181623" y="6130163"/>
                  </a:cubicBezTo>
                  <a:cubicBezTo>
                    <a:pt x="5021167" y="6262624"/>
                    <a:pt x="4806129" y="6343650"/>
                    <a:pt x="4569945" y="6343650"/>
                  </a:cubicBezTo>
                  <a:cubicBezTo>
                    <a:pt x="4333617" y="6343650"/>
                    <a:pt x="4118723" y="6262624"/>
                    <a:pt x="3958266" y="6130163"/>
                  </a:cubicBezTo>
                  <a:cubicBezTo>
                    <a:pt x="3797809" y="6262624"/>
                    <a:pt x="3582771" y="6343650"/>
                    <a:pt x="3346587" y="6343650"/>
                  </a:cubicBezTo>
                  <a:cubicBezTo>
                    <a:pt x="3110403" y="6343650"/>
                    <a:pt x="2895365" y="6262624"/>
                    <a:pt x="2734908" y="6130163"/>
                  </a:cubicBezTo>
                  <a:cubicBezTo>
                    <a:pt x="2574452" y="6262624"/>
                    <a:pt x="2359414" y="6343650"/>
                    <a:pt x="2123230" y="6343650"/>
                  </a:cubicBezTo>
                  <a:cubicBezTo>
                    <a:pt x="1886902" y="6343650"/>
                    <a:pt x="1672008" y="6262624"/>
                    <a:pt x="1511551" y="6130163"/>
                  </a:cubicBezTo>
                  <a:cubicBezTo>
                    <a:pt x="1351094" y="6262624"/>
                    <a:pt x="1136056" y="6343650"/>
                    <a:pt x="899872" y="6343650"/>
                  </a:cubicBezTo>
                  <a:cubicBezTo>
                    <a:pt x="402642" y="6343650"/>
                    <a:pt x="0" y="5985637"/>
                    <a:pt x="0" y="5544185"/>
                  </a:cubicBezTo>
                  <a:cubicBezTo>
                    <a:pt x="0" y="5540756"/>
                    <a:pt x="143" y="5537200"/>
                    <a:pt x="143" y="5533771"/>
                  </a:cubicBezTo>
                  <a:lnTo>
                    <a:pt x="0" y="5533771"/>
                  </a:lnTo>
                  <a:lnTo>
                    <a:pt x="0" y="738886"/>
                  </a:lnTo>
                  <a:lnTo>
                    <a:pt x="2572" y="738886"/>
                  </a:lnTo>
                  <a:cubicBezTo>
                    <a:pt x="37435" y="325628"/>
                    <a:pt x="425646" y="0"/>
                    <a:pt x="899444" y="0"/>
                  </a:cubicBezTo>
                  <a:cubicBezTo>
                    <a:pt x="1135771" y="0"/>
                    <a:pt x="1350666" y="81026"/>
                    <a:pt x="1511122" y="213487"/>
                  </a:cubicBezTo>
                  <a:cubicBezTo>
                    <a:pt x="1671722" y="81026"/>
                    <a:pt x="1886617" y="0"/>
                    <a:pt x="2122944" y="0"/>
                  </a:cubicBezTo>
                  <a:cubicBezTo>
                    <a:pt x="2359271" y="0"/>
                    <a:pt x="2574166" y="81026"/>
                    <a:pt x="2734623" y="213487"/>
                  </a:cubicBezTo>
                  <a:cubicBezTo>
                    <a:pt x="2895079" y="81026"/>
                    <a:pt x="3110117" y="0"/>
                    <a:pt x="3346301" y="0"/>
                  </a:cubicBezTo>
                  <a:cubicBezTo>
                    <a:pt x="3582486" y="0"/>
                    <a:pt x="3797523" y="81026"/>
                    <a:pt x="3957980" y="213487"/>
                  </a:cubicBezTo>
                  <a:cubicBezTo>
                    <a:pt x="4118580" y="81026"/>
                    <a:pt x="4333617" y="0"/>
                    <a:pt x="4569802" y="0"/>
                  </a:cubicBezTo>
                  <a:cubicBezTo>
                    <a:pt x="4806129" y="0"/>
                    <a:pt x="5021023" y="81026"/>
                    <a:pt x="5181480" y="213487"/>
                  </a:cubicBezTo>
                  <a:cubicBezTo>
                    <a:pt x="5342080" y="81026"/>
                    <a:pt x="5556975" y="0"/>
                    <a:pt x="5793302" y="0"/>
                  </a:cubicBezTo>
                  <a:cubicBezTo>
                    <a:pt x="6267099" y="0"/>
                    <a:pt x="6655311" y="325628"/>
                    <a:pt x="6690174" y="738886"/>
                  </a:cubicBezTo>
                  <a:lnTo>
                    <a:pt x="6692746" y="738886"/>
                  </a:lnTo>
                  <a:close/>
                </a:path>
              </a:pathLst>
            </a:custGeom>
            <a:blipFill>
              <a:blip r:embed="rId13"/>
              <a:stretch>
                <a:fillRect l="-8316" t="0" r="-831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04950" y="3266004"/>
            <a:ext cx="8202295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690"/>
              </a:lnSpc>
            </a:pPr>
            <a:r>
              <a:rPr lang="en-US" sz="8500">
                <a:solidFill>
                  <a:srgbClr val="E5DED8"/>
                </a:solidFill>
                <a:latin typeface="Lazydog"/>
                <a:ea typeface="Lazydog"/>
                <a:cs typeface="Lazydog"/>
                <a:sym typeface="Lazydog"/>
              </a:rPr>
              <a:t>vECtores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4950" y="5153144"/>
            <a:ext cx="7782679" cy="144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E5DED8"/>
                </a:solidFill>
                <a:latin typeface="Public Sans"/>
                <a:ea typeface="Public Sans"/>
                <a:cs typeface="Public Sans"/>
                <a:sym typeface="Public Sans"/>
              </a:rPr>
              <a:t>Un vector es una estructura de datos que permite guardar varios valores en una sola variable, los cuales son organizados de forma secuencial. Siendo igual a una fila de casilllas, donde cada casilla guarda un dato y tiene una posición que permite identificarlo.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7CD9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4274726" cy="2081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36704" y="2965367"/>
            <a:ext cx="13214593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690"/>
              </a:lnSpc>
              <a:spcBef>
                <a:spcPct val="0"/>
              </a:spcBef>
            </a:pPr>
            <a:r>
              <a:rPr lang="en-US" sz="8500">
                <a:solidFill>
                  <a:srgbClr val="2B1F1F"/>
                </a:solidFill>
                <a:latin typeface="Lazydog"/>
                <a:ea typeface="Lazydog"/>
                <a:cs typeface="Lazydog"/>
                <a:sym typeface="Lazydog"/>
              </a:rPr>
              <a:t>¿en quÉ consiste?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01395" y="4779113"/>
            <a:ext cx="12849901" cy="406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3"/>
              </a:lnSpc>
            </a:pPr>
            <a:r>
              <a:rPr lang="en-US" sz="1900">
                <a:solidFill>
                  <a:srgbClr val="2B1F1F"/>
                </a:solidFill>
                <a:latin typeface="Public Sans"/>
                <a:ea typeface="Public Sans"/>
                <a:cs typeface="Public Sans"/>
                <a:sym typeface="Public Sans"/>
              </a:rPr>
              <a:t>Un vector consiste en crear varios datos dentro de una misma variable, en donde cada dato ocupa una posición determinada y esta formado por: </a:t>
            </a:r>
          </a:p>
          <a:p>
            <a:pPr algn="l" marL="410214" indent="-205107" lvl="1">
              <a:lnSpc>
                <a:spcPts val="2983"/>
              </a:lnSpc>
              <a:buFont typeface="Arial"/>
              <a:buChar char="•"/>
            </a:pPr>
            <a:r>
              <a:rPr lang="en-US" sz="1900">
                <a:solidFill>
                  <a:srgbClr val="2B1F1F"/>
                </a:solidFill>
                <a:latin typeface="Public Sans"/>
                <a:ea typeface="Public Sans"/>
                <a:cs typeface="Public Sans"/>
                <a:sym typeface="Public Sans"/>
              </a:rPr>
              <a:t>Nombre(¿Cómo se identifica?): Algo q lo identifique y que se pueda usar en el programa. Ej: Canciones, edades,puntajes, integrantes,etc.</a:t>
            </a:r>
          </a:p>
          <a:p>
            <a:pPr algn="l" marL="410214" indent="-205107" lvl="1">
              <a:lnSpc>
                <a:spcPts val="2983"/>
              </a:lnSpc>
              <a:buFont typeface="Arial"/>
              <a:buChar char="•"/>
            </a:pPr>
            <a:r>
              <a:rPr lang="en-US" sz="1900">
                <a:solidFill>
                  <a:srgbClr val="2B1F1F"/>
                </a:solidFill>
                <a:latin typeface="Public Sans"/>
                <a:ea typeface="Public Sans"/>
                <a:cs typeface="Public Sans"/>
                <a:sym typeface="Public Sans"/>
              </a:rPr>
              <a:t>Elementos(¿Qué guarda?): Son los datos individuales guardados en el vector. Ej: si el vector se llama canciones sus elementos pueden son: Butter, Run, DNA, fake love .</a:t>
            </a:r>
          </a:p>
          <a:p>
            <a:pPr algn="l" marL="410214" indent="-205107" lvl="1">
              <a:lnSpc>
                <a:spcPts val="2983"/>
              </a:lnSpc>
              <a:buFont typeface="Arial"/>
              <a:buChar char="•"/>
            </a:pPr>
            <a:r>
              <a:rPr lang="en-US" sz="1900">
                <a:solidFill>
                  <a:srgbClr val="2B1F1F"/>
                </a:solidFill>
                <a:latin typeface="Public Sans"/>
                <a:ea typeface="Public Sans"/>
                <a:cs typeface="Public Sans"/>
                <a:sym typeface="Public Sans"/>
              </a:rPr>
              <a:t>Índices (¿En qué posición esta?): indican la posición de cada elemento dentro del vector. Ej: </a:t>
            </a:r>
          </a:p>
          <a:p>
            <a:pPr algn="l">
              <a:lnSpc>
                <a:spcPts val="2983"/>
              </a:lnSpc>
            </a:pPr>
            <a:r>
              <a:rPr lang="en-US" sz="1900">
                <a:solidFill>
                  <a:srgbClr val="2B1F1F"/>
                </a:solidFill>
                <a:latin typeface="Public Sans"/>
                <a:ea typeface="Public Sans"/>
                <a:cs typeface="Public Sans"/>
                <a:sym typeface="Public Sans"/>
              </a:rPr>
              <a:t>        Indice 1           indice 2                           indice 3</a:t>
            </a:r>
          </a:p>
          <a:p>
            <a:pPr algn="l">
              <a:lnSpc>
                <a:spcPts val="2983"/>
              </a:lnSpc>
            </a:pPr>
            <a:r>
              <a:rPr lang="en-US" sz="1900">
                <a:solidFill>
                  <a:srgbClr val="2B1F1F"/>
                </a:solidFill>
                <a:latin typeface="Public Sans"/>
                <a:ea typeface="Public Sans"/>
                <a:cs typeface="Public Sans"/>
                <a:sym typeface="Public Sans"/>
              </a:rPr>
              <a:t>        Butter             Run                                   DNA</a:t>
            </a:r>
            <a:r>
              <a:rPr lang="en-US" sz="1900">
                <a:solidFill>
                  <a:srgbClr val="2B1F1F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 marL="410214" indent="-205107" lvl="1">
              <a:lnSpc>
                <a:spcPts val="2983"/>
              </a:lnSpc>
              <a:buFont typeface="Arial"/>
              <a:buChar char="•"/>
            </a:pPr>
            <a:r>
              <a:rPr lang="en-US" sz="1900">
                <a:solidFill>
                  <a:srgbClr val="2B1F1F"/>
                </a:solidFill>
                <a:latin typeface="Public Sans"/>
                <a:ea typeface="Public Sans"/>
                <a:cs typeface="Public Sans"/>
                <a:sym typeface="Public Sans"/>
              </a:rPr>
              <a:t>Tamaño(¿cuantos elementos caben?): Es la cantidad de elementos que tiene un vector para guardar segun su declaración. Ej: Dimension canciones [ 3 ]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449800" y="7245060"/>
            <a:ext cx="1114376" cy="1597671"/>
          </a:xfrm>
          <a:custGeom>
            <a:avLst/>
            <a:gdLst/>
            <a:ahLst/>
            <a:cxnLst/>
            <a:rect r="r" b="b" t="t" l="l"/>
            <a:pathLst>
              <a:path h="1597671" w="1114376">
                <a:moveTo>
                  <a:pt x="0" y="0"/>
                </a:moveTo>
                <a:lnTo>
                  <a:pt x="1114376" y="0"/>
                </a:lnTo>
                <a:lnTo>
                  <a:pt x="1114376" y="1597671"/>
                </a:lnTo>
                <a:lnTo>
                  <a:pt x="0" y="1597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882105" y="-2416786"/>
            <a:ext cx="3364048" cy="3445486"/>
          </a:xfrm>
          <a:custGeom>
            <a:avLst/>
            <a:gdLst/>
            <a:ahLst/>
            <a:cxnLst/>
            <a:rect r="r" b="b" t="t" l="l"/>
            <a:pathLst>
              <a:path h="3445486" w="3364048">
                <a:moveTo>
                  <a:pt x="0" y="0"/>
                </a:moveTo>
                <a:lnTo>
                  <a:pt x="3364047" y="0"/>
                </a:lnTo>
                <a:lnTo>
                  <a:pt x="3364047" y="3445486"/>
                </a:lnTo>
                <a:lnTo>
                  <a:pt x="0" y="3445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993723" y="9258300"/>
            <a:ext cx="2835055" cy="2903688"/>
          </a:xfrm>
          <a:custGeom>
            <a:avLst/>
            <a:gdLst/>
            <a:ahLst/>
            <a:cxnLst/>
            <a:rect r="r" b="b" t="t" l="l"/>
            <a:pathLst>
              <a:path h="2903688" w="2835055">
                <a:moveTo>
                  <a:pt x="0" y="0"/>
                </a:moveTo>
                <a:lnTo>
                  <a:pt x="2835055" y="0"/>
                </a:lnTo>
                <a:lnTo>
                  <a:pt x="2835055" y="2903688"/>
                </a:lnTo>
                <a:lnTo>
                  <a:pt x="0" y="2903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3195732" y="1489685"/>
            <a:ext cx="4043457" cy="3653815"/>
          </a:xfrm>
          <a:custGeom>
            <a:avLst/>
            <a:gdLst/>
            <a:ahLst/>
            <a:cxnLst/>
            <a:rect r="r" b="b" t="t" l="l"/>
            <a:pathLst>
              <a:path h="3653815" w="4043457">
                <a:moveTo>
                  <a:pt x="0" y="0"/>
                </a:moveTo>
                <a:lnTo>
                  <a:pt x="4043457" y="0"/>
                </a:lnTo>
                <a:lnTo>
                  <a:pt x="4043457" y="3653815"/>
                </a:lnTo>
                <a:lnTo>
                  <a:pt x="0" y="3653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-1899203" y="-1792157"/>
            <a:ext cx="3798405" cy="3584313"/>
          </a:xfrm>
          <a:custGeom>
            <a:avLst/>
            <a:gdLst/>
            <a:ahLst/>
            <a:cxnLst/>
            <a:rect r="r" b="b" t="t" l="l"/>
            <a:pathLst>
              <a:path h="3584313" w="3798405">
                <a:moveTo>
                  <a:pt x="0" y="0"/>
                </a:moveTo>
                <a:lnTo>
                  <a:pt x="3798406" y="0"/>
                </a:lnTo>
                <a:lnTo>
                  <a:pt x="3798406" y="3584314"/>
                </a:lnTo>
                <a:lnTo>
                  <a:pt x="0" y="3584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5924028" y="9106435"/>
            <a:ext cx="5280295" cy="1891306"/>
          </a:xfrm>
          <a:custGeom>
            <a:avLst/>
            <a:gdLst/>
            <a:ahLst/>
            <a:cxnLst/>
            <a:rect r="r" b="b" t="t" l="l"/>
            <a:pathLst>
              <a:path h="1891306" w="5280295">
                <a:moveTo>
                  <a:pt x="0" y="0"/>
                </a:moveTo>
                <a:lnTo>
                  <a:pt x="5280295" y="0"/>
                </a:lnTo>
                <a:lnTo>
                  <a:pt x="5280295" y="1891306"/>
                </a:lnTo>
                <a:lnTo>
                  <a:pt x="0" y="1891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12357" y="1606083"/>
            <a:ext cx="10663286" cy="124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690"/>
              </a:lnSpc>
              <a:spcBef>
                <a:spcPct val="0"/>
              </a:spcBef>
            </a:pPr>
            <a:r>
              <a:rPr lang="en-US" sz="8500">
                <a:solidFill>
                  <a:srgbClr val="E5DED8"/>
                </a:solidFill>
                <a:latin typeface="Lazydog"/>
                <a:ea typeface="Lazydog"/>
                <a:cs typeface="Lazydog"/>
                <a:sym typeface="Lazydog"/>
              </a:rPr>
              <a:t>Por ejemplo: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06791" y="3232666"/>
            <a:ext cx="7439209" cy="5873769"/>
            <a:chOff x="0" y="0"/>
            <a:chExt cx="2702631" cy="21339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2631" cy="2133914"/>
            </a:xfrm>
            <a:custGeom>
              <a:avLst/>
              <a:gdLst/>
              <a:ahLst/>
              <a:cxnLst/>
              <a:rect r="r" b="b" t="t" l="l"/>
              <a:pathLst>
                <a:path h="2133914" w="2702631">
                  <a:moveTo>
                    <a:pt x="15610" y="0"/>
                  </a:moveTo>
                  <a:lnTo>
                    <a:pt x="2687021" y="0"/>
                  </a:lnTo>
                  <a:cubicBezTo>
                    <a:pt x="2691161" y="0"/>
                    <a:pt x="2695131" y="1645"/>
                    <a:pt x="2698059" y="4572"/>
                  </a:cubicBezTo>
                  <a:cubicBezTo>
                    <a:pt x="2700986" y="7500"/>
                    <a:pt x="2702631" y="11470"/>
                    <a:pt x="2702631" y="15610"/>
                  </a:cubicBezTo>
                  <a:lnTo>
                    <a:pt x="2702631" y="2118304"/>
                  </a:lnTo>
                  <a:cubicBezTo>
                    <a:pt x="2702631" y="2122444"/>
                    <a:pt x="2700986" y="2126414"/>
                    <a:pt x="2698059" y="2129342"/>
                  </a:cubicBezTo>
                  <a:cubicBezTo>
                    <a:pt x="2695131" y="2132269"/>
                    <a:pt x="2691161" y="2133914"/>
                    <a:pt x="2687021" y="2133914"/>
                  </a:cubicBezTo>
                  <a:lnTo>
                    <a:pt x="15610" y="2133914"/>
                  </a:lnTo>
                  <a:cubicBezTo>
                    <a:pt x="6989" y="2133914"/>
                    <a:pt x="0" y="2126925"/>
                    <a:pt x="0" y="2118304"/>
                  </a:cubicBezTo>
                  <a:lnTo>
                    <a:pt x="0" y="15610"/>
                  </a:lnTo>
                  <a:cubicBezTo>
                    <a:pt x="0" y="11470"/>
                    <a:pt x="1645" y="7500"/>
                    <a:pt x="4572" y="4572"/>
                  </a:cubicBezTo>
                  <a:cubicBezTo>
                    <a:pt x="7500" y="1645"/>
                    <a:pt x="11470" y="0"/>
                    <a:pt x="15610" y="0"/>
                  </a:cubicBezTo>
                  <a:close/>
                </a:path>
              </a:pathLst>
            </a:custGeom>
            <a:solidFill>
              <a:srgbClr val="89B2C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85725"/>
              <a:ext cx="2702631" cy="2048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052650" y="4564129"/>
            <a:ext cx="5127420" cy="427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Algortimo CancionesBts</a:t>
            </a:r>
          </a:p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Definir canciones como caracter</a:t>
            </a:r>
          </a:p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Definir i como Entero </a:t>
            </a:r>
          </a:p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Dimension Canciones [ 5 ]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Para i ← 1 hasta 5 Hacer</a:t>
            </a:r>
          </a:p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Leer “Ingrese el nombre de una cancion de BTS”; [ i ]</a:t>
            </a:r>
          </a:p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Fin para</a:t>
            </a:r>
          </a:p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Leer “Las canciones de BTS son” </a:t>
            </a:r>
          </a:p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Para i ← 1 hasta 5 Hacer</a:t>
            </a:r>
          </a:p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Leer “canciones”; [ i ]</a:t>
            </a:r>
          </a:p>
          <a:p>
            <a:pPr algn="just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Fin para</a:t>
            </a:r>
          </a:p>
          <a:p>
            <a:pPr algn="just" marL="0" indent="0" lvl="0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 algoritmo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66014" y="3385359"/>
            <a:ext cx="7173165" cy="4939136"/>
            <a:chOff x="0" y="0"/>
            <a:chExt cx="2605978" cy="1794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05979" cy="1794366"/>
            </a:xfrm>
            <a:custGeom>
              <a:avLst/>
              <a:gdLst/>
              <a:ahLst/>
              <a:cxnLst/>
              <a:rect r="r" b="b" t="t" l="l"/>
              <a:pathLst>
                <a:path h="1794366" w="2605979">
                  <a:moveTo>
                    <a:pt x="16189" y="0"/>
                  </a:moveTo>
                  <a:lnTo>
                    <a:pt x="2589789" y="0"/>
                  </a:lnTo>
                  <a:cubicBezTo>
                    <a:pt x="2598730" y="0"/>
                    <a:pt x="2605979" y="7248"/>
                    <a:pt x="2605979" y="16189"/>
                  </a:cubicBezTo>
                  <a:lnTo>
                    <a:pt x="2605979" y="1778177"/>
                  </a:lnTo>
                  <a:cubicBezTo>
                    <a:pt x="2605979" y="1787118"/>
                    <a:pt x="2598730" y="1794366"/>
                    <a:pt x="2589789" y="1794366"/>
                  </a:cubicBezTo>
                  <a:lnTo>
                    <a:pt x="16189" y="1794366"/>
                  </a:lnTo>
                  <a:cubicBezTo>
                    <a:pt x="11896" y="1794366"/>
                    <a:pt x="7778" y="1792660"/>
                    <a:pt x="4742" y="1789624"/>
                  </a:cubicBezTo>
                  <a:cubicBezTo>
                    <a:pt x="1706" y="1786588"/>
                    <a:pt x="0" y="1782470"/>
                    <a:pt x="0" y="1778177"/>
                  </a:cubicBezTo>
                  <a:lnTo>
                    <a:pt x="0" y="16189"/>
                  </a:lnTo>
                  <a:cubicBezTo>
                    <a:pt x="0" y="7248"/>
                    <a:pt x="7248" y="0"/>
                    <a:pt x="16189" y="0"/>
                  </a:cubicBezTo>
                  <a:close/>
                </a:path>
              </a:pathLst>
            </a:custGeom>
            <a:solidFill>
              <a:srgbClr val="C988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605978" cy="1708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03808" y="5066048"/>
            <a:ext cx="5631533" cy="1224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48"/>
              </a:lnSpc>
            </a:pPr>
            <a:r>
              <a:rPr lang="en-US" b="true" sz="1748" spc="27">
                <a:solidFill>
                  <a:srgbClr val="E5DED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Hacer un algoritmo que le permita ingresar al usuario los nombres de 5 canciones de BTS, almacenarlos en un vector y al finalizar mostrar todas las canciones ingresadas.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6014" y="3578009"/>
            <a:ext cx="7274055" cy="121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415"/>
              </a:lnSpc>
              <a:spcBef>
                <a:spcPct val="0"/>
              </a:spcBef>
            </a:pPr>
            <a:r>
              <a:rPr lang="en-US" sz="8259">
                <a:solidFill>
                  <a:srgbClr val="E5DED8"/>
                </a:solidFill>
                <a:latin typeface="Lazydog"/>
                <a:ea typeface="Lazydog"/>
                <a:cs typeface="Lazydog"/>
                <a:sym typeface="Lazydog"/>
              </a:rPr>
              <a:t>eNUNCIADO: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2720" y="3423459"/>
            <a:ext cx="5707350" cy="121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415"/>
              </a:lnSpc>
              <a:spcBef>
                <a:spcPct val="0"/>
              </a:spcBef>
            </a:pPr>
            <a:r>
              <a:rPr lang="en-US" sz="8259">
                <a:solidFill>
                  <a:srgbClr val="E5DED8"/>
                </a:solidFill>
                <a:latin typeface="Lazydog"/>
                <a:ea typeface="Lazydog"/>
                <a:cs typeface="Lazydog"/>
                <a:sym typeface="Lazydog"/>
              </a:rPr>
              <a:t>Algoritmo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449800" y="7245060"/>
            <a:ext cx="1114376" cy="1597671"/>
          </a:xfrm>
          <a:custGeom>
            <a:avLst/>
            <a:gdLst/>
            <a:ahLst/>
            <a:cxnLst/>
            <a:rect r="r" b="b" t="t" l="l"/>
            <a:pathLst>
              <a:path h="1597671" w="1114376">
                <a:moveTo>
                  <a:pt x="0" y="0"/>
                </a:moveTo>
                <a:lnTo>
                  <a:pt x="1114376" y="0"/>
                </a:lnTo>
                <a:lnTo>
                  <a:pt x="1114376" y="1597671"/>
                </a:lnTo>
                <a:lnTo>
                  <a:pt x="0" y="1597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882105" y="-2416786"/>
            <a:ext cx="3364048" cy="3445486"/>
          </a:xfrm>
          <a:custGeom>
            <a:avLst/>
            <a:gdLst/>
            <a:ahLst/>
            <a:cxnLst/>
            <a:rect r="r" b="b" t="t" l="l"/>
            <a:pathLst>
              <a:path h="3445486" w="3364048">
                <a:moveTo>
                  <a:pt x="0" y="0"/>
                </a:moveTo>
                <a:lnTo>
                  <a:pt x="3364047" y="0"/>
                </a:lnTo>
                <a:lnTo>
                  <a:pt x="3364047" y="3445486"/>
                </a:lnTo>
                <a:lnTo>
                  <a:pt x="0" y="3445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993723" y="9258300"/>
            <a:ext cx="2835055" cy="2903688"/>
          </a:xfrm>
          <a:custGeom>
            <a:avLst/>
            <a:gdLst/>
            <a:ahLst/>
            <a:cxnLst/>
            <a:rect r="r" b="b" t="t" l="l"/>
            <a:pathLst>
              <a:path h="2903688" w="2835055">
                <a:moveTo>
                  <a:pt x="0" y="0"/>
                </a:moveTo>
                <a:lnTo>
                  <a:pt x="2835055" y="0"/>
                </a:lnTo>
                <a:lnTo>
                  <a:pt x="2835055" y="2903688"/>
                </a:lnTo>
                <a:lnTo>
                  <a:pt x="0" y="2903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-3195732" y="1489685"/>
            <a:ext cx="4043457" cy="3653815"/>
          </a:xfrm>
          <a:custGeom>
            <a:avLst/>
            <a:gdLst/>
            <a:ahLst/>
            <a:cxnLst/>
            <a:rect r="r" b="b" t="t" l="l"/>
            <a:pathLst>
              <a:path h="3653815" w="4043457">
                <a:moveTo>
                  <a:pt x="0" y="0"/>
                </a:moveTo>
                <a:lnTo>
                  <a:pt x="4043457" y="0"/>
                </a:lnTo>
                <a:lnTo>
                  <a:pt x="4043457" y="3653815"/>
                </a:lnTo>
                <a:lnTo>
                  <a:pt x="0" y="3653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-1899203" y="-1792157"/>
            <a:ext cx="3798405" cy="3584313"/>
          </a:xfrm>
          <a:custGeom>
            <a:avLst/>
            <a:gdLst/>
            <a:ahLst/>
            <a:cxnLst/>
            <a:rect r="r" b="b" t="t" l="l"/>
            <a:pathLst>
              <a:path h="3584313" w="3798405">
                <a:moveTo>
                  <a:pt x="0" y="0"/>
                </a:moveTo>
                <a:lnTo>
                  <a:pt x="3798406" y="0"/>
                </a:lnTo>
                <a:lnTo>
                  <a:pt x="3798406" y="3584314"/>
                </a:lnTo>
                <a:lnTo>
                  <a:pt x="0" y="3584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924028" y="9106435"/>
            <a:ext cx="5280295" cy="1891306"/>
          </a:xfrm>
          <a:custGeom>
            <a:avLst/>
            <a:gdLst/>
            <a:ahLst/>
            <a:cxnLst/>
            <a:rect r="r" b="b" t="t" l="l"/>
            <a:pathLst>
              <a:path h="1891306" w="5280295">
                <a:moveTo>
                  <a:pt x="0" y="0"/>
                </a:moveTo>
                <a:lnTo>
                  <a:pt x="5280295" y="0"/>
                </a:lnTo>
                <a:lnTo>
                  <a:pt x="5280295" y="1891306"/>
                </a:lnTo>
                <a:lnTo>
                  <a:pt x="0" y="1891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49800" y="7245060"/>
            <a:ext cx="1114376" cy="1597671"/>
          </a:xfrm>
          <a:custGeom>
            <a:avLst/>
            <a:gdLst/>
            <a:ahLst/>
            <a:cxnLst/>
            <a:rect r="r" b="b" t="t" l="l"/>
            <a:pathLst>
              <a:path h="1597671" w="1114376">
                <a:moveTo>
                  <a:pt x="0" y="0"/>
                </a:moveTo>
                <a:lnTo>
                  <a:pt x="1114376" y="0"/>
                </a:lnTo>
                <a:lnTo>
                  <a:pt x="1114376" y="1597671"/>
                </a:lnTo>
                <a:lnTo>
                  <a:pt x="0" y="1597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882105" y="-2416786"/>
            <a:ext cx="3364048" cy="3445486"/>
          </a:xfrm>
          <a:custGeom>
            <a:avLst/>
            <a:gdLst/>
            <a:ahLst/>
            <a:cxnLst/>
            <a:rect r="r" b="b" t="t" l="l"/>
            <a:pathLst>
              <a:path h="3445486" w="3364048">
                <a:moveTo>
                  <a:pt x="0" y="0"/>
                </a:moveTo>
                <a:lnTo>
                  <a:pt x="3364047" y="0"/>
                </a:lnTo>
                <a:lnTo>
                  <a:pt x="3364047" y="3445486"/>
                </a:lnTo>
                <a:lnTo>
                  <a:pt x="0" y="3445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993723" y="9258300"/>
            <a:ext cx="2835055" cy="2903688"/>
          </a:xfrm>
          <a:custGeom>
            <a:avLst/>
            <a:gdLst/>
            <a:ahLst/>
            <a:cxnLst/>
            <a:rect r="r" b="b" t="t" l="l"/>
            <a:pathLst>
              <a:path h="2903688" w="2835055">
                <a:moveTo>
                  <a:pt x="0" y="0"/>
                </a:moveTo>
                <a:lnTo>
                  <a:pt x="2835055" y="0"/>
                </a:lnTo>
                <a:lnTo>
                  <a:pt x="2835055" y="2903688"/>
                </a:lnTo>
                <a:lnTo>
                  <a:pt x="0" y="2903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3195732" y="1489685"/>
            <a:ext cx="4043457" cy="3653815"/>
          </a:xfrm>
          <a:custGeom>
            <a:avLst/>
            <a:gdLst/>
            <a:ahLst/>
            <a:cxnLst/>
            <a:rect r="r" b="b" t="t" l="l"/>
            <a:pathLst>
              <a:path h="3653815" w="4043457">
                <a:moveTo>
                  <a:pt x="0" y="0"/>
                </a:moveTo>
                <a:lnTo>
                  <a:pt x="4043457" y="0"/>
                </a:lnTo>
                <a:lnTo>
                  <a:pt x="4043457" y="3653815"/>
                </a:lnTo>
                <a:lnTo>
                  <a:pt x="0" y="3653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1899203" y="-1792157"/>
            <a:ext cx="3798405" cy="3584313"/>
          </a:xfrm>
          <a:custGeom>
            <a:avLst/>
            <a:gdLst/>
            <a:ahLst/>
            <a:cxnLst/>
            <a:rect r="r" b="b" t="t" l="l"/>
            <a:pathLst>
              <a:path h="3584313" w="3798405">
                <a:moveTo>
                  <a:pt x="0" y="0"/>
                </a:moveTo>
                <a:lnTo>
                  <a:pt x="3798406" y="0"/>
                </a:lnTo>
                <a:lnTo>
                  <a:pt x="3798406" y="3584314"/>
                </a:lnTo>
                <a:lnTo>
                  <a:pt x="0" y="3584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4028" y="9106435"/>
            <a:ext cx="5280295" cy="1891306"/>
          </a:xfrm>
          <a:custGeom>
            <a:avLst/>
            <a:gdLst/>
            <a:ahLst/>
            <a:cxnLst/>
            <a:rect r="r" b="b" t="t" l="l"/>
            <a:pathLst>
              <a:path h="1891306" w="5280295">
                <a:moveTo>
                  <a:pt x="0" y="0"/>
                </a:moveTo>
                <a:lnTo>
                  <a:pt x="5280295" y="0"/>
                </a:lnTo>
                <a:lnTo>
                  <a:pt x="5280295" y="1891306"/>
                </a:lnTo>
                <a:lnTo>
                  <a:pt x="0" y="1891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185114" y="1879396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0"/>
                </a:lnTo>
                <a:lnTo>
                  <a:pt x="0" y="550979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04950" y="3345489"/>
            <a:ext cx="7413755" cy="112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81"/>
              </a:lnSpc>
            </a:pPr>
            <a:r>
              <a:rPr lang="en-US" sz="8001">
                <a:solidFill>
                  <a:srgbClr val="E5DED8"/>
                </a:solidFill>
                <a:latin typeface="Lazydog"/>
                <a:ea typeface="Lazydog"/>
                <a:cs typeface="Lazydog"/>
                <a:sym typeface="Lazydog"/>
              </a:rPr>
              <a:t>Matrices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4950" y="5583247"/>
            <a:ext cx="7782679" cy="180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E5DED8"/>
                </a:solidFill>
                <a:latin typeface="Public Sans"/>
                <a:ea typeface="Public Sans"/>
                <a:cs typeface="Public Sans"/>
                <a:sym typeface="Public Sans"/>
              </a:rPr>
              <a:t>Es una estructura de datos que organiza los elementos en 2 dimensiones: filas y columnas.</a:t>
            </a:r>
          </a:p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E5DED8"/>
                </a:solidFill>
                <a:latin typeface="Public Sans"/>
                <a:ea typeface="Public Sans"/>
                <a:cs typeface="Public Sans"/>
                <a:sym typeface="Public Sans"/>
              </a:rPr>
              <a:t>Es como una tabla donde para encontrar un dato se necesita conocer su fila y su columna.</a:t>
            </a:r>
          </a:p>
          <a:p>
            <a:pPr algn="l">
              <a:lnSpc>
                <a:spcPts val="28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2854951"/>
            <a:ext cx="8115300" cy="219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81"/>
              </a:lnSpc>
              <a:spcBef>
                <a:spcPct val="0"/>
              </a:spcBef>
            </a:pPr>
            <a:r>
              <a:rPr lang="en-US" sz="8001">
                <a:solidFill>
                  <a:srgbClr val="E5DED8"/>
                </a:solidFill>
                <a:latin typeface="Lazydog"/>
                <a:ea typeface="Lazydog"/>
                <a:cs typeface="Lazydog"/>
                <a:sym typeface="Lazydog"/>
              </a:rPr>
              <a:t>¿en que consiste?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2823" y="5003533"/>
            <a:ext cx="7782679" cy="470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E5DED8"/>
                </a:solidFill>
                <a:latin typeface="Public Sans"/>
                <a:ea typeface="Public Sans"/>
                <a:cs typeface="Public Sans"/>
                <a:sym typeface="Public Sans"/>
              </a:rPr>
              <a:t>Una matriz esta formada por:</a:t>
            </a:r>
          </a:p>
          <a:p>
            <a:pPr algn="l" marL="431804" indent="-215902" lvl="1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E5DED8"/>
                </a:solidFill>
                <a:latin typeface="Public Sans"/>
                <a:ea typeface="Public Sans"/>
                <a:cs typeface="Public Sans"/>
                <a:sym typeface="Public Sans"/>
              </a:rPr>
              <a:t>Nombre ¿cómo identificamos la matriz?: Es el que identifica la matriz.</a:t>
            </a:r>
          </a:p>
          <a:p>
            <a:pPr algn="l" marL="431804" indent="-215902" lvl="1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E5DED8"/>
                </a:solidFill>
                <a:latin typeface="Public Sans"/>
                <a:ea typeface="Public Sans"/>
                <a:cs typeface="Public Sans"/>
                <a:sym typeface="Public Sans"/>
              </a:rPr>
              <a:t>Filas ¿Cuántas filas tiene la matriz y cómo se organizan?: Organizan los datos horizontalmente dice como se organiza de izquierda a derecha.</a:t>
            </a:r>
          </a:p>
          <a:p>
            <a:pPr algn="l" marL="431804" indent="-215902" lvl="1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E5DED8"/>
                </a:solidFill>
                <a:latin typeface="Public Sans"/>
                <a:ea typeface="Public Sans"/>
                <a:cs typeface="Public Sans"/>
                <a:sym typeface="Public Sans"/>
              </a:rPr>
              <a:t>Columnas ¿Cuántas columnas tiene la matriz y cómo se organizan?: Organizan los datos verticalmente de arriba hacia abajo.</a:t>
            </a:r>
          </a:p>
          <a:p>
            <a:pPr algn="l" marL="431804" indent="-215902" lvl="1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E5DED8"/>
                </a:solidFill>
                <a:latin typeface="Public Sans"/>
                <a:ea typeface="Public Sans"/>
                <a:cs typeface="Public Sans"/>
                <a:sym typeface="Public Sans"/>
              </a:rPr>
              <a:t>Índices ¿En qué posición se encuentra un elemento?: Permite localizar un elemento mediante su fila y su columna.</a:t>
            </a:r>
          </a:p>
          <a:p>
            <a:pPr algn="l" marL="431804" indent="-215902" lvl="1">
              <a:lnSpc>
                <a:spcPts val="2880"/>
              </a:lnSpc>
              <a:buFont typeface="Arial"/>
              <a:buChar char="•"/>
            </a:pPr>
            <a:r>
              <a:rPr lang="en-US" sz="2000">
                <a:solidFill>
                  <a:srgbClr val="E5DED8"/>
                </a:solidFill>
                <a:latin typeface="Public Sans"/>
                <a:ea typeface="Public Sans"/>
                <a:cs typeface="Public Sans"/>
                <a:sym typeface="Public Sans"/>
              </a:rPr>
              <a:t>Tamaño ¿Cuántas filas y columnas tiene la matriz?: Se define por la cantidad de filas y columnas. 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449800" y="7245060"/>
            <a:ext cx="1114376" cy="1597671"/>
          </a:xfrm>
          <a:custGeom>
            <a:avLst/>
            <a:gdLst/>
            <a:ahLst/>
            <a:cxnLst/>
            <a:rect r="r" b="b" t="t" l="l"/>
            <a:pathLst>
              <a:path h="1597671" w="1114376">
                <a:moveTo>
                  <a:pt x="0" y="0"/>
                </a:moveTo>
                <a:lnTo>
                  <a:pt x="1114376" y="0"/>
                </a:lnTo>
                <a:lnTo>
                  <a:pt x="1114376" y="1597671"/>
                </a:lnTo>
                <a:lnTo>
                  <a:pt x="0" y="1597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882105" y="-2416786"/>
            <a:ext cx="3364048" cy="3445486"/>
          </a:xfrm>
          <a:custGeom>
            <a:avLst/>
            <a:gdLst/>
            <a:ahLst/>
            <a:cxnLst/>
            <a:rect r="r" b="b" t="t" l="l"/>
            <a:pathLst>
              <a:path h="3445486" w="3364048">
                <a:moveTo>
                  <a:pt x="0" y="0"/>
                </a:moveTo>
                <a:lnTo>
                  <a:pt x="3364047" y="0"/>
                </a:lnTo>
                <a:lnTo>
                  <a:pt x="3364047" y="3445486"/>
                </a:lnTo>
                <a:lnTo>
                  <a:pt x="0" y="3445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964162" y="9352648"/>
            <a:ext cx="2835055" cy="2903688"/>
          </a:xfrm>
          <a:custGeom>
            <a:avLst/>
            <a:gdLst/>
            <a:ahLst/>
            <a:cxnLst/>
            <a:rect r="r" b="b" t="t" l="l"/>
            <a:pathLst>
              <a:path h="2903688" w="2835055">
                <a:moveTo>
                  <a:pt x="0" y="0"/>
                </a:moveTo>
                <a:lnTo>
                  <a:pt x="2835056" y="0"/>
                </a:lnTo>
                <a:lnTo>
                  <a:pt x="2835056" y="2903688"/>
                </a:lnTo>
                <a:lnTo>
                  <a:pt x="0" y="2903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3195732" y="1489685"/>
            <a:ext cx="4043457" cy="3653815"/>
          </a:xfrm>
          <a:custGeom>
            <a:avLst/>
            <a:gdLst/>
            <a:ahLst/>
            <a:cxnLst/>
            <a:rect r="r" b="b" t="t" l="l"/>
            <a:pathLst>
              <a:path h="3653815" w="4043457">
                <a:moveTo>
                  <a:pt x="0" y="0"/>
                </a:moveTo>
                <a:lnTo>
                  <a:pt x="4043457" y="0"/>
                </a:lnTo>
                <a:lnTo>
                  <a:pt x="4043457" y="3653815"/>
                </a:lnTo>
                <a:lnTo>
                  <a:pt x="0" y="3653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-1899203" y="-1792157"/>
            <a:ext cx="3798405" cy="3584313"/>
          </a:xfrm>
          <a:custGeom>
            <a:avLst/>
            <a:gdLst/>
            <a:ahLst/>
            <a:cxnLst/>
            <a:rect r="r" b="b" t="t" l="l"/>
            <a:pathLst>
              <a:path h="3584313" w="3798405">
                <a:moveTo>
                  <a:pt x="0" y="0"/>
                </a:moveTo>
                <a:lnTo>
                  <a:pt x="3798406" y="0"/>
                </a:lnTo>
                <a:lnTo>
                  <a:pt x="3798406" y="3584314"/>
                </a:lnTo>
                <a:lnTo>
                  <a:pt x="0" y="3584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5924028" y="9106435"/>
            <a:ext cx="5280295" cy="1891306"/>
          </a:xfrm>
          <a:custGeom>
            <a:avLst/>
            <a:gdLst/>
            <a:ahLst/>
            <a:cxnLst/>
            <a:rect r="r" b="b" t="t" l="l"/>
            <a:pathLst>
              <a:path h="1891306" w="5280295">
                <a:moveTo>
                  <a:pt x="0" y="0"/>
                </a:moveTo>
                <a:lnTo>
                  <a:pt x="5280295" y="0"/>
                </a:lnTo>
                <a:lnTo>
                  <a:pt x="5280295" y="1891306"/>
                </a:lnTo>
                <a:lnTo>
                  <a:pt x="0" y="1891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1028700" y="1236484"/>
            <a:ext cx="7327668" cy="7814031"/>
            <a:chOff x="0" y="0"/>
            <a:chExt cx="5948807" cy="63436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48807" cy="6343650"/>
            </a:xfrm>
            <a:custGeom>
              <a:avLst/>
              <a:gdLst/>
              <a:ahLst/>
              <a:cxnLst/>
              <a:rect r="r" b="b" t="t" l="l"/>
              <a:pathLst>
                <a:path h="6343650" w="5948807">
                  <a:moveTo>
                    <a:pt x="5948807" y="738886"/>
                  </a:moveTo>
                  <a:lnTo>
                    <a:pt x="5948807" y="5533771"/>
                  </a:lnTo>
                  <a:lnTo>
                    <a:pt x="5948680" y="5533771"/>
                  </a:lnTo>
                  <a:cubicBezTo>
                    <a:pt x="5948680" y="5537200"/>
                    <a:pt x="5948807" y="5540756"/>
                    <a:pt x="5948807" y="5544185"/>
                  </a:cubicBezTo>
                  <a:cubicBezTo>
                    <a:pt x="5948807" y="5985764"/>
                    <a:pt x="5590921" y="6343650"/>
                    <a:pt x="5149342" y="6343650"/>
                  </a:cubicBezTo>
                  <a:cubicBezTo>
                    <a:pt x="4939284" y="6343650"/>
                    <a:pt x="4748276" y="6262624"/>
                    <a:pt x="4605655" y="6130163"/>
                  </a:cubicBezTo>
                  <a:cubicBezTo>
                    <a:pt x="4463034" y="6262624"/>
                    <a:pt x="4271899" y="6343650"/>
                    <a:pt x="4061968" y="6343650"/>
                  </a:cubicBezTo>
                  <a:cubicBezTo>
                    <a:pt x="3851910" y="6343650"/>
                    <a:pt x="3660902" y="6262624"/>
                    <a:pt x="3518281" y="6130163"/>
                  </a:cubicBezTo>
                  <a:cubicBezTo>
                    <a:pt x="3375660" y="6262624"/>
                    <a:pt x="3184525" y="6343650"/>
                    <a:pt x="2974594" y="6343650"/>
                  </a:cubicBezTo>
                  <a:cubicBezTo>
                    <a:pt x="2764663" y="6343650"/>
                    <a:pt x="2573528" y="6262624"/>
                    <a:pt x="2430907" y="6130163"/>
                  </a:cubicBezTo>
                  <a:cubicBezTo>
                    <a:pt x="2288286" y="6262624"/>
                    <a:pt x="2097151" y="6343650"/>
                    <a:pt x="1887220" y="6343650"/>
                  </a:cubicBezTo>
                  <a:cubicBezTo>
                    <a:pt x="1677162" y="6343650"/>
                    <a:pt x="1486154" y="6262624"/>
                    <a:pt x="1343533" y="6130163"/>
                  </a:cubicBezTo>
                  <a:cubicBezTo>
                    <a:pt x="1200912" y="6262624"/>
                    <a:pt x="1009777" y="6343650"/>
                    <a:pt x="799846" y="6343650"/>
                  </a:cubicBezTo>
                  <a:cubicBezTo>
                    <a:pt x="357886" y="6343650"/>
                    <a:pt x="0" y="5985637"/>
                    <a:pt x="0" y="5544185"/>
                  </a:cubicBezTo>
                  <a:cubicBezTo>
                    <a:pt x="0" y="5540756"/>
                    <a:pt x="127" y="5537200"/>
                    <a:pt x="127" y="5533771"/>
                  </a:cubicBezTo>
                  <a:lnTo>
                    <a:pt x="0" y="5533771"/>
                  </a:lnTo>
                  <a:lnTo>
                    <a:pt x="0" y="738886"/>
                  </a:lnTo>
                  <a:lnTo>
                    <a:pt x="2286" y="738886"/>
                  </a:lnTo>
                  <a:cubicBezTo>
                    <a:pt x="33274" y="325628"/>
                    <a:pt x="378333" y="0"/>
                    <a:pt x="799465" y="0"/>
                  </a:cubicBezTo>
                  <a:cubicBezTo>
                    <a:pt x="1009523" y="0"/>
                    <a:pt x="1200531" y="81026"/>
                    <a:pt x="1343152" y="213487"/>
                  </a:cubicBezTo>
                  <a:cubicBezTo>
                    <a:pt x="1485900" y="81026"/>
                    <a:pt x="1676908" y="0"/>
                    <a:pt x="1886966" y="0"/>
                  </a:cubicBezTo>
                  <a:cubicBezTo>
                    <a:pt x="2097024" y="0"/>
                    <a:pt x="2288032" y="81026"/>
                    <a:pt x="2430653" y="213487"/>
                  </a:cubicBezTo>
                  <a:cubicBezTo>
                    <a:pt x="2573274" y="81026"/>
                    <a:pt x="2764409" y="0"/>
                    <a:pt x="2974340" y="0"/>
                  </a:cubicBezTo>
                  <a:cubicBezTo>
                    <a:pt x="3184271" y="0"/>
                    <a:pt x="3375406" y="81026"/>
                    <a:pt x="3518027" y="213487"/>
                  </a:cubicBezTo>
                  <a:cubicBezTo>
                    <a:pt x="3660775" y="81026"/>
                    <a:pt x="3851910" y="0"/>
                    <a:pt x="4061841" y="0"/>
                  </a:cubicBezTo>
                  <a:cubicBezTo>
                    <a:pt x="4271899" y="0"/>
                    <a:pt x="4462907" y="81026"/>
                    <a:pt x="4605528" y="213487"/>
                  </a:cubicBezTo>
                  <a:cubicBezTo>
                    <a:pt x="4748276" y="81026"/>
                    <a:pt x="4939284" y="0"/>
                    <a:pt x="5149342" y="0"/>
                  </a:cubicBezTo>
                  <a:cubicBezTo>
                    <a:pt x="5570474" y="0"/>
                    <a:pt x="5915533" y="325628"/>
                    <a:pt x="5946521" y="738886"/>
                  </a:cubicBezTo>
                  <a:lnTo>
                    <a:pt x="5948807" y="738886"/>
                  </a:lnTo>
                  <a:close/>
                </a:path>
              </a:pathLst>
            </a:custGeom>
            <a:blipFill>
              <a:blip r:embed="rId13"/>
              <a:stretch>
                <a:fillRect l="0" t="-20375" r="0" b="-2037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106414"/>
            <a:ext cx="5442168" cy="210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209"/>
              </a:lnSpc>
              <a:spcBef>
                <a:spcPct val="0"/>
              </a:spcBef>
            </a:pPr>
            <a:r>
              <a:rPr lang="en-US" sz="7201">
                <a:solidFill>
                  <a:srgbClr val="E5DED8"/>
                </a:solidFill>
                <a:latin typeface="Lazydog"/>
                <a:ea typeface="Lazydog"/>
                <a:cs typeface="Lazydog"/>
                <a:sym typeface="Lazydog"/>
              </a:rPr>
              <a:t>Por ejemplo: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70868" y="1217800"/>
            <a:ext cx="11220342" cy="3720913"/>
            <a:chOff x="0" y="0"/>
            <a:chExt cx="3202652" cy="10620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02653" cy="1062070"/>
            </a:xfrm>
            <a:custGeom>
              <a:avLst/>
              <a:gdLst/>
              <a:ahLst/>
              <a:cxnLst/>
              <a:rect r="r" b="b" t="t" l="l"/>
              <a:pathLst>
                <a:path h="1062070" w="3202653">
                  <a:moveTo>
                    <a:pt x="35189" y="0"/>
                  </a:moveTo>
                  <a:lnTo>
                    <a:pt x="3167463" y="0"/>
                  </a:lnTo>
                  <a:cubicBezTo>
                    <a:pt x="3186898" y="0"/>
                    <a:pt x="3202653" y="15755"/>
                    <a:pt x="3202653" y="35189"/>
                  </a:cubicBezTo>
                  <a:lnTo>
                    <a:pt x="3202653" y="1026881"/>
                  </a:lnTo>
                  <a:cubicBezTo>
                    <a:pt x="3202653" y="1036213"/>
                    <a:pt x="3198945" y="1045164"/>
                    <a:pt x="3192346" y="1051763"/>
                  </a:cubicBezTo>
                  <a:cubicBezTo>
                    <a:pt x="3185746" y="1058363"/>
                    <a:pt x="3176796" y="1062070"/>
                    <a:pt x="3167463" y="1062070"/>
                  </a:cubicBezTo>
                  <a:lnTo>
                    <a:pt x="35189" y="1062070"/>
                  </a:lnTo>
                  <a:cubicBezTo>
                    <a:pt x="25857" y="1062070"/>
                    <a:pt x="16906" y="1058363"/>
                    <a:pt x="10307" y="1051763"/>
                  </a:cubicBezTo>
                  <a:cubicBezTo>
                    <a:pt x="3707" y="1045164"/>
                    <a:pt x="0" y="1036213"/>
                    <a:pt x="0" y="1026881"/>
                  </a:cubicBezTo>
                  <a:lnTo>
                    <a:pt x="0" y="35189"/>
                  </a:lnTo>
                  <a:cubicBezTo>
                    <a:pt x="0" y="25857"/>
                    <a:pt x="3707" y="16906"/>
                    <a:pt x="10307" y="10307"/>
                  </a:cubicBezTo>
                  <a:cubicBezTo>
                    <a:pt x="16906" y="3707"/>
                    <a:pt x="25857" y="0"/>
                    <a:pt x="35189" y="0"/>
                  </a:cubicBezTo>
                  <a:close/>
                </a:path>
              </a:pathLst>
            </a:custGeom>
            <a:solidFill>
              <a:srgbClr val="7F886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85725"/>
              <a:ext cx="3202652" cy="976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30167" y="5205412"/>
            <a:ext cx="10954298" cy="5081588"/>
            <a:chOff x="0" y="0"/>
            <a:chExt cx="3126715" cy="14504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26715" cy="1450451"/>
            </a:xfrm>
            <a:custGeom>
              <a:avLst/>
              <a:gdLst/>
              <a:ahLst/>
              <a:cxnLst/>
              <a:rect r="r" b="b" t="t" l="l"/>
              <a:pathLst>
                <a:path h="1450451" w="3126715">
                  <a:moveTo>
                    <a:pt x="36044" y="0"/>
                  </a:moveTo>
                  <a:lnTo>
                    <a:pt x="3090671" y="0"/>
                  </a:lnTo>
                  <a:cubicBezTo>
                    <a:pt x="3100230" y="0"/>
                    <a:pt x="3109398" y="3797"/>
                    <a:pt x="3116158" y="10557"/>
                  </a:cubicBezTo>
                  <a:cubicBezTo>
                    <a:pt x="3122917" y="17317"/>
                    <a:pt x="3126715" y="26485"/>
                    <a:pt x="3126715" y="36044"/>
                  </a:cubicBezTo>
                  <a:lnTo>
                    <a:pt x="3126715" y="1414407"/>
                  </a:lnTo>
                  <a:cubicBezTo>
                    <a:pt x="3126715" y="1434314"/>
                    <a:pt x="3110577" y="1450451"/>
                    <a:pt x="3090671" y="1450451"/>
                  </a:cubicBezTo>
                  <a:lnTo>
                    <a:pt x="36044" y="1450451"/>
                  </a:lnTo>
                  <a:cubicBezTo>
                    <a:pt x="16137" y="1450451"/>
                    <a:pt x="0" y="1434314"/>
                    <a:pt x="0" y="1414407"/>
                  </a:cubicBezTo>
                  <a:lnTo>
                    <a:pt x="0" y="36044"/>
                  </a:lnTo>
                  <a:cubicBezTo>
                    <a:pt x="0" y="16137"/>
                    <a:pt x="16137" y="0"/>
                    <a:pt x="36044" y="0"/>
                  </a:cubicBezTo>
                  <a:close/>
                </a:path>
              </a:pathLst>
            </a:custGeom>
            <a:solidFill>
              <a:srgbClr val="DBB46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3126715" cy="1364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928140" y="2462399"/>
            <a:ext cx="6358351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9"/>
              </a:lnSpc>
            </a:pPr>
            <a:r>
              <a:rPr lang="en-US" sz="1999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Realizar un algoritmo que permita registrar la cantidad de reproducciones de 3 canciones de BTS durante 2 dias. Los datos deben rgistrarse en una matriz y al finalizar el programa debe mostrar todas las reproducciones registradas.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3696" y="1403536"/>
            <a:ext cx="4534687" cy="72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4"/>
              </a:lnSpc>
            </a:pPr>
            <a:r>
              <a:rPr lang="en-US" b="true" sz="4499">
                <a:solidFill>
                  <a:srgbClr val="FBF6F1"/>
                </a:solidFill>
                <a:latin typeface="Inter Bold"/>
                <a:ea typeface="Inter Bold"/>
                <a:cs typeface="Inter Bold"/>
                <a:sym typeface="Inter Bold"/>
              </a:rPr>
              <a:t>Enunciado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9505" y="5995416"/>
            <a:ext cx="6063751" cy="417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66"/>
              </a:lnSpc>
            </a:pPr>
            <a:r>
              <a:rPr lang="en-US" sz="1291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Alg</a:t>
            </a: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oritmo ReproduccionesBTS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Definir i, j Como Entero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Definir Reproducciones Como Entero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Dimension Reproducciones[3,2]</a:t>
            </a:r>
          </a:p>
          <a:p>
            <a:pPr algn="ctr" marL="0" indent="0" lvl="0">
              <a:lnSpc>
                <a:spcPts val="1666"/>
              </a:lnSpc>
            </a:pP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Para i &lt;- 1 Hasta 3 Hacer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Para j &lt;- 1 Hasta 2 Hacer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Leer "Ingrese las reproducciones de la cancion "; [i]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Leer "Ingrese las reproducciones del dia "; [j]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FinPara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FinPara</a:t>
            </a:r>
          </a:p>
          <a:p>
            <a:pPr algn="ctr" marL="0" indent="0" lvl="0">
              <a:lnSpc>
                <a:spcPts val="1666"/>
              </a:lnSpc>
            </a:pP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Leer "Las reproducciones registradas son:"</a:t>
            </a:r>
          </a:p>
          <a:p>
            <a:pPr algn="ctr" marL="0" indent="0" lvl="0">
              <a:lnSpc>
                <a:spcPts val="1666"/>
              </a:lnSpc>
            </a:pP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Para i &lt;- 1 Hasta 3 Hacer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Para j &lt;- 1 Hasta 2 Hacer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Escribir Reproducciones[i,j]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FinPara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FinPara</a:t>
            </a:r>
          </a:p>
          <a:p>
            <a:pPr algn="ctr" marL="0" indent="0" lvl="0">
              <a:lnSpc>
                <a:spcPts val="1666"/>
              </a:lnSpc>
            </a:pPr>
            <a:r>
              <a:rPr lang="en-US" sz="1291" u="none">
                <a:solidFill>
                  <a:srgbClr val="FBF6F1"/>
                </a:solidFill>
                <a:latin typeface="Inter"/>
                <a:ea typeface="Inter"/>
                <a:cs typeface="Inter"/>
                <a:sym typeface="Inter"/>
              </a:rPr>
              <a:t>FinAlgoritmo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34036" y="5083206"/>
            <a:ext cx="4534687" cy="72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4"/>
              </a:lnSpc>
            </a:pPr>
            <a:r>
              <a:rPr lang="en-US" b="true" sz="4499">
                <a:solidFill>
                  <a:srgbClr val="FBF6F1"/>
                </a:solidFill>
                <a:latin typeface="Inter Bold"/>
                <a:ea typeface="Inter Bold"/>
                <a:cs typeface="Inter Bold"/>
                <a:sym typeface="Inter Bold"/>
              </a:rPr>
              <a:t>Algoritmo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449800" y="7245060"/>
            <a:ext cx="1114376" cy="1597671"/>
          </a:xfrm>
          <a:custGeom>
            <a:avLst/>
            <a:gdLst/>
            <a:ahLst/>
            <a:cxnLst/>
            <a:rect r="r" b="b" t="t" l="l"/>
            <a:pathLst>
              <a:path h="1597671" w="1114376">
                <a:moveTo>
                  <a:pt x="0" y="0"/>
                </a:moveTo>
                <a:lnTo>
                  <a:pt x="1114376" y="0"/>
                </a:lnTo>
                <a:lnTo>
                  <a:pt x="1114376" y="1597671"/>
                </a:lnTo>
                <a:lnTo>
                  <a:pt x="0" y="1597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882105" y="-2416786"/>
            <a:ext cx="3364048" cy="3445486"/>
          </a:xfrm>
          <a:custGeom>
            <a:avLst/>
            <a:gdLst/>
            <a:ahLst/>
            <a:cxnLst/>
            <a:rect r="r" b="b" t="t" l="l"/>
            <a:pathLst>
              <a:path h="3445486" w="3364048">
                <a:moveTo>
                  <a:pt x="0" y="0"/>
                </a:moveTo>
                <a:lnTo>
                  <a:pt x="3364047" y="0"/>
                </a:lnTo>
                <a:lnTo>
                  <a:pt x="3364047" y="3445486"/>
                </a:lnTo>
                <a:lnTo>
                  <a:pt x="0" y="3445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993723" y="9258300"/>
            <a:ext cx="2835055" cy="2903688"/>
          </a:xfrm>
          <a:custGeom>
            <a:avLst/>
            <a:gdLst/>
            <a:ahLst/>
            <a:cxnLst/>
            <a:rect r="r" b="b" t="t" l="l"/>
            <a:pathLst>
              <a:path h="2903688" w="2835055">
                <a:moveTo>
                  <a:pt x="0" y="0"/>
                </a:moveTo>
                <a:lnTo>
                  <a:pt x="2835055" y="0"/>
                </a:lnTo>
                <a:lnTo>
                  <a:pt x="2835055" y="2903688"/>
                </a:lnTo>
                <a:lnTo>
                  <a:pt x="0" y="2903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-3195732" y="1489685"/>
            <a:ext cx="4043457" cy="3653815"/>
          </a:xfrm>
          <a:custGeom>
            <a:avLst/>
            <a:gdLst/>
            <a:ahLst/>
            <a:cxnLst/>
            <a:rect r="r" b="b" t="t" l="l"/>
            <a:pathLst>
              <a:path h="3653815" w="4043457">
                <a:moveTo>
                  <a:pt x="0" y="0"/>
                </a:moveTo>
                <a:lnTo>
                  <a:pt x="4043457" y="0"/>
                </a:lnTo>
                <a:lnTo>
                  <a:pt x="4043457" y="3653815"/>
                </a:lnTo>
                <a:lnTo>
                  <a:pt x="0" y="3653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-1899203" y="-1792157"/>
            <a:ext cx="3798405" cy="3584313"/>
          </a:xfrm>
          <a:custGeom>
            <a:avLst/>
            <a:gdLst/>
            <a:ahLst/>
            <a:cxnLst/>
            <a:rect r="r" b="b" t="t" l="l"/>
            <a:pathLst>
              <a:path h="3584313" w="3798405">
                <a:moveTo>
                  <a:pt x="0" y="0"/>
                </a:moveTo>
                <a:lnTo>
                  <a:pt x="3798406" y="0"/>
                </a:lnTo>
                <a:lnTo>
                  <a:pt x="3798406" y="3584314"/>
                </a:lnTo>
                <a:lnTo>
                  <a:pt x="0" y="3584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924028" y="9106435"/>
            <a:ext cx="5280295" cy="1891306"/>
          </a:xfrm>
          <a:custGeom>
            <a:avLst/>
            <a:gdLst/>
            <a:ahLst/>
            <a:cxnLst/>
            <a:rect r="r" b="b" t="t" l="l"/>
            <a:pathLst>
              <a:path h="1891306" w="5280295">
                <a:moveTo>
                  <a:pt x="0" y="0"/>
                </a:moveTo>
                <a:lnTo>
                  <a:pt x="5280295" y="0"/>
                </a:lnTo>
                <a:lnTo>
                  <a:pt x="5280295" y="1891306"/>
                </a:lnTo>
                <a:lnTo>
                  <a:pt x="0" y="1891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49800" y="7245060"/>
            <a:ext cx="1114376" cy="1597671"/>
          </a:xfrm>
          <a:custGeom>
            <a:avLst/>
            <a:gdLst/>
            <a:ahLst/>
            <a:cxnLst/>
            <a:rect r="r" b="b" t="t" l="l"/>
            <a:pathLst>
              <a:path h="1597671" w="1114376">
                <a:moveTo>
                  <a:pt x="0" y="0"/>
                </a:moveTo>
                <a:lnTo>
                  <a:pt x="1114376" y="0"/>
                </a:lnTo>
                <a:lnTo>
                  <a:pt x="1114376" y="1597671"/>
                </a:lnTo>
                <a:lnTo>
                  <a:pt x="0" y="1597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882105" y="-2416786"/>
            <a:ext cx="3364048" cy="3445486"/>
          </a:xfrm>
          <a:custGeom>
            <a:avLst/>
            <a:gdLst/>
            <a:ahLst/>
            <a:cxnLst/>
            <a:rect r="r" b="b" t="t" l="l"/>
            <a:pathLst>
              <a:path h="3445486" w="3364048">
                <a:moveTo>
                  <a:pt x="0" y="0"/>
                </a:moveTo>
                <a:lnTo>
                  <a:pt x="3364047" y="0"/>
                </a:lnTo>
                <a:lnTo>
                  <a:pt x="3364047" y="3445486"/>
                </a:lnTo>
                <a:lnTo>
                  <a:pt x="0" y="3445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993723" y="9258300"/>
            <a:ext cx="2835055" cy="2903688"/>
          </a:xfrm>
          <a:custGeom>
            <a:avLst/>
            <a:gdLst/>
            <a:ahLst/>
            <a:cxnLst/>
            <a:rect r="r" b="b" t="t" l="l"/>
            <a:pathLst>
              <a:path h="2903688" w="2835055">
                <a:moveTo>
                  <a:pt x="0" y="0"/>
                </a:moveTo>
                <a:lnTo>
                  <a:pt x="2835055" y="0"/>
                </a:lnTo>
                <a:lnTo>
                  <a:pt x="2835055" y="2903688"/>
                </a:lnTo>
                <a:lnTo>
                  <a:pt x="0" y="2903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3195732" y="1489685"/>
            <a:ext cx="4043457" cy="3653815"/>
          </a:xfrm>
          <a:custGeom>
            <a:avLst/>
            <a:gdLst/>
            <a:ahLst/>
            <a:cxnLst/>
            <a:rect r="r" b="b" t="t" l="l"/>
            <a:pathLst>
              <a:path h="3653815" w="4043457">
                <a:moveTo>
                  <a:pt x="0" y="0"/>
                </a:moveTo>
                <a:lnTo>
                  <a:pt x="4043457" y="0"/>
                </a:lnTo>
                <a:lnTo>
                  <a:pt x="4043457" y="3653815"/>
                </a:lnTo>
                <a:lnTo>
                  <a:pt x="0" y="3653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1899203" y="-1792157"/>
            <a:ext cx="3798405" cy="3584313"/>
          </a:xfrm>
          <a:custGeom>
            <a:avLst/>
            <a:gdLst/>
            <a:ahLst/>
            <a:cxnLst/>
            <a:rect r="r" b="b" t="t" l="l"/>
            <a:pathLst>
              <a:path h="3584313" w="3798405">
                <a:moveTo>
                  <a:pt x="0" y="0"/>
                </a:moveTo>
                <a:lnTo>
                  <a:pt x="3798406" y="0"/>
                </a:lnTo>
                <a:lnTo>
                  <a:pt x="3798406" y="3584314"/>
                </a:lnTo>
                <a:lnTo>
                  <a:pt x="0" y="3584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24028" y="9106435"/>
            <a:ext cx="5280295" cy="1891306"/>
          </a:xfrm>
          <a:custGeom>
            <a:avLst/>
            <a:gdLst/>
            <a:ahLst/>
            <a:cxnLst/>
            <a:rect r="r" b="b" t="t" l="l"/>
            <a:pathLst>
              <a:path h="1891306" w="5280295">
                <a:moveTo>
                  <a:pt x="0" y="0"/>
                </a:moveTo>
                <a:lnTo>
                  <a:pt x="5280295" y="0"/>
                </a:lnTo>
                <a:lnTo>
                  <a:pt x="5280295" y="1891306"/>
                </a:lnTo>
                <a:lnTo>
                  <a:pt x="0" y="1891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C9888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4274726" cy="2081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3229108"/>
            <a:ext cx="9492462" cy="4606201"/>
          </a:xfrm>
          <a:custGeom>
            <a:avLst/>
            <a:gdLst/>
            <a:ahLst/>
            <a:cxnLst/>
            <a:rect r="r" b="b" t="t" l="l"/>
            <a:pathLst>
              <a:path h="4606201" w="9492462">
                <a:moveTo>
                  <a:pt x="0" y="0"/>
                </a:moveTo>
                <a:lnTo>
                  <a:pt x="9492462" y="0"/>
                </a:lnTo>
                <a:lnTo>
                  <a:pt x="9492462" y="4606201"/>
                </a:lnTo>
                <a:lnTo>
                  <a:pt x="0" y="46062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778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25702" y="1527785"/>
            <a:ext cx="7231197" cy="116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989"/>
              </a:lnSpc>
              <a:spcBef>
                <a:spcPct val="0"/>
              </a:spcBef>
            </a:pPr>
            <a:r>
              <a:rPr lang="en-US" sz="7885">
                <a:solidFill>
                  <a:srgbClr val="FBF6F1"/>
                </a:solidFill>
                <a:latin typeface="Lazydog"/>
                <a:ea typeface="Lazydog"/>
                <a:cs typeface="Lazydog"/>
                <a:sym typeface="Lazydog"/>
              </a:rPr>
              <a:t>Conclusiones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02137" y="3367690"/>
            <a:ext cx="6198795" cy="406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3"/>
              </a:lnSpc>
            </a:pPr>
            <a:r>
              <a:rPr lang="en-US" sz="1900">
                <a:solidFill>
                  <a:srgbClr val="FBF6F1"/>
                </a:solidFill>
                <a:latin typeface="Public Sans"/>
                <a:ea typeface="Public Sans"/>
                <a:cs typeface="Public Sans"/>
                <a:sym typeface="Public Sans"/>
              </a:rPr>
              <a:t>Los vectores y las matrices son estructuras que permiten organizar y almacenar varios datos en un programa :</a:t>
            </a:r>
          </a:p>
          <a:p>
            <a:pPr algn="ctr">
              <a:lnSpc>
                <a:spcPts val="2983"/>
              </a:lnSpc>
            </a:pPr>
            <a:r>
              <a:rPr lang="en-US" sz="1900">
                <a:solidFill>
                  <a:srgbClr val="FBF6F1"/>
                </a:solidFill>
                <a:latin typeface="Public Sans"/>
                <a:ea typeface="Public Sans"/>
                <a:cs typeface="Public Sans"/>
                <a:sym typeface="Public Sans"/>
              </a:rPr>
              <a:t>-Vectores: Organiza los datos en una sola dimensión, como una lista de canciones de Bts. Utiliza una posición representada en este caso por i para guardar o encontrar cada dato.</a:t>
            </a:r>
          </a:p>
          <a:p>
            <a:pPr algn="ctr">
              <a:lnSpc>
                <a:spcPts val="2983"/>
              </a:lnSpc>
            </a:pPr>
            <a:r>
              <a:rPr lang="en-US" sz="1900">
                <a:solidFill>
                  <a:srgbClr val="FBF6F1"/>
                </a:solidFill>
                <a:latin typeface="Public Sans"/>
                <a:ea typeface="Public Sans"/>
                <a:cs typeface="Public Sans"/>
                <a:sym typeface="Public Sans"/>
              </a:rPr>
              <a:t>-Matriz: Organiza los datos en filas y columnas, como una tabla de reproducciones de canciones de varios dias. Utiliza 2 posiciones i y j para guardar o encontrar un dato.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10571" y="4918322"/>
            <a:ext cx="2305102" cy="2247474"/>
          </a:xfrm>
          <a:custGeom>
            <a:avLst/>
            <a:gdLst/>
            <a:ahLst/>
            <a:cxnLst/>
            <a:rect r="r" b="b" t="t" l="l"/>
            <a:pathLst>
              <a:path h="2247474" w="2305102">
                <a:moveTo>
                  <a:pt x="0" y="0"/>
                </a:moveTo>
                <a:lnTo>
                  <a:pt x="2305102" y="0"/>
                </a:lnTo>
                <a:lnTo>
                  <a:pt x="2305102" y="2247474"/>
                </a:lnTo>
                <a:lnTo>
                  <a:pt x="0" y="2247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11165" y="4918322"/>
            <a:ext cx="1637847" cy="2247474"/>
          </a:xfrm>
          <a:custGeom>
            <a:avLst/>
            <a:gdLst/>
            <a:ahLst/>
            <a:cxnLst/>
            <a:rect r="r" b="b" t="t" l="l"/>
            <a:pathLst>
              <a:path h="2247474" w="1637847">
                <a:moveTo>
                  <a:pt x="0" y="0"/>
                </a:moveTo>
                <a:lnTo>
                  <a:pt x="1637846" y="0"/>
                </a:lnTo>
                <a:lnTo>
                  <a:pt x="1637846" y="2247474"/>
                </a:lnTo>
                <a:lnTo>
                  <a:pt x="0" y="2247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68430" y="4918322"/>
            <a:ext cx="1856976" cy="2247474"/>
          </a:xfrm>
          <a:custGeom>
            <a:avLst/>
            <a:gdLst/>
            <a:ahLst/>
            <a:cxnLst/>
            <a:rect r="r" b="b" t="t" l="l"/>
            <a:pathLst>
              <a:path h="2247474" w="1856976">
                <a:moveTo>
                  <a:pt x="0" y="0"/>
                </a:moveTo>
                <a:lnTo>
                  <a:pt x="1856976" y="0"/>
                </a:lnTo>
                <a:lnTo>
                  <a:pt x="1856976" y="2247474"/>
                </a:lnTo>
                <a:lnTo>
                  <a:pt x="0" y="2247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03660" y="2741309"/>
            <a:ext cx="8480680" cy="177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43"/>
              </a:lnSpc>
            </a:pPr>
            <a:r>
              <a:rPr lang="en-US" sz="11549" spc="-196">
                <a:solidFill>
                  <a:srgbClr val="E5DED8"/>
                </a:solidFill>
                <a:latin typeface="Bobby Jones"/>
                <a:ea typeface="Bobby Jones"/>
                <a:cs typeface="Bobby Jones"/>
                <a:sym typeface="Bobby Jones"/>
              </a:rPr>
              <a:t>Muchas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137986">
            <a:off x="4433288" y="2727497"/>
            <a:ext cx="1313213" cy="1196218"/>
          </a:xfrm>
          <a:custGeom>
            <a:avLst/>
            <a:gdLst/>
            <a:ahLst/>
            <a:cxnLst/>
            <a:rect r="r" b="b" t="t" l="l"/>
            <a:pathLst>
              <a:path h="1196218" w="1313213">
                <a:moveTo>
                  <a:pt x="0" y="0"/>
                </a:moveTo>
                <a:lnTo>
                  <a:pt x="1313214" y="0"/>
                </a:lnTo>
                <a:lnTo>
                  <a:pt x="1313214" y="1196217"/>
                </a:lnTo>
                <a:lnTo>
                  <a:pt x="0" y="11962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610500">
            <a:off x="12625098" y="3221054"/>
            <a:ext cx="1263393" cy="1150836"/>
          </a:xfrm>
          <a:custGeom>
            <a:avLst/>
            <a:gdLst/>
            <a:ahLst/>
            <a:cxnLst/>
            <a:rect r="r" b="b" t="t" l="l"/>
            <a:pathLst>
              <a:path h="1150836" w="1263393">
                <a:moveTo>
                  <a:pt x="0" y="0"/>
                </a:moveTo>
                <a:lnTo>
                  <a:pt x="1263392" y="0"/>
                </a:lnTo>
                <a:lnTo>
                  <a:pt x="1263392" y="1150836"/>
                </a:lnTo>
                <a:lnTo>
                  <a:pt x="0" y="1150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78946" y="7208659"/>
            <a:ext cx="897957" cy="1287393"/>
          </a:xfrm>
          <a:custGeom>
            <a:avLst/>
            <a:gdLst/>
            <a:ahLst/>
            <a:cxnLst/>
            <a:rect r="r" b="b" t="t" l="l"/>
            <a:pathLst>
              <a:path h="1287393" w="897957">
                <a:moveTo>
                  <a:pt x="0" y="0"/>
                </a:moveTo>
                <a:lnTo>
                  <a:pt x="897956" y="0"/>
                </a:lnTo>
                <a:lnTo>
                  <a:pt x="897956" y="1287393"/>
                </a:lnTo>
                <a:lnTo>
                  <a:pt x="0" y="12873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559176" y="-1610176"/>
            <a:ext cx="2345750" cy="2796721"/>
          </a:xfrm>
          <a:custGeom>
            <a:avLst/>
            <a:gdLst/>
            <a:ahLst/>
            <a:cxnLst/>
            <a:rect r="r" b="b" t="t" l="l"/>
            <a:pathLst>
              <a:path h="2796721" w="2345750">
                <a:moveTo>
                  <a:pt x="0" y="0"/>
                </a:moveTo>
                <a:lnTo>
                  <a:pt x="2345750" y="0"/>
                </a:lnTo>
                <a:lnTo>
                  <a:pt x="2345750" y="2796721"/>
                </a:lnTo>
                <a:lnTo>
                  <a:pt x="0" y="27967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607968" y="-2416786"/>
            <a:ext cx="3364048" cy="3445486"/>
          </a:xfrm>
          <a:custGeom>
            <a:avLst/>
            <a:gdLst/>
            <a:ahLst/>
            <a:cxnLst/>
            <a:rect r="r" b="b" t="t" l="l"/>
            <a:pathLst>
              <a:path h="3445486" w="3364048">
                <a:moveTo>
                  <a:pt x="0" y="0"/>
                </a:moveTo>
                <a:lnTo>
                  <a:pt x="3364047" y="0"/>
                </a:lnTo>
                <a:lnTo>
                  <a:pt x="3364047" y="3445486"/>
                </a:lnTo>
                <a:lnTo>
                  <a:pt x="0" y="34454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474734" y="9106435"/>
            <a:ext cx="3632113" cy="3720041"/>
          </a:xfrm>
          <a:custGeom>
            <a:avLst/>
            <a:gdLst/>
            <a:ahLst/>
            <a:cxnLst/>
            <a:rect r="r" b="b" t="t" l="l"/>
            <a:pathLst>
              <a:path h="3720041" w="3632113">
                <a:moveTo>
                  <a:pt x="0" y="0"/>
                </a:moveTo>
                <a:lnTo>
                  <a:pt x="3632112" y="0"/>
                </a:lnTo>
                <a:lnTo>
                  <a:pt x="3632112" y="3720041"/>
                </a:lnTo>
                <a:lnTo>
                  <a:pt x="0" y="372004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400000">
            <a:off x="16727099" y="2891503"/>
            <a:ext cx="3035552" cy="1981387"/>
          </a:xfrm>
          <a:custGeom>
            <a:avLst/>
            <a:gdLst/>
            <a:ahLst/>
            <a:cxnLst/>
            <a:rect r="r" b="b" t="t" l="l"/>
            <a:pathLst>
              <a:path h="1981387" w="3035552">
                <a:moveTo>
                  <a:pt x="0" y="0"/>
                </a:moveTo>
                <a:lnTo>
                  <a:pt x="3035552" y="0"/>
                </a:lnTo>
                <a:lnTo>
                  <a:pt x="3035552" y="1981387"/>
                </a:lnTo>
                <a:lnTo>
                  <a:pt x="0" y="198138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014757" y="2055289"/>
            <a:ext cx="4043457" cy="3653815"/>
          </a:xfrm>
          <a:custGeom>
            <a:avLst/>
            <a:gdLst/>
            <a:ahLst/>
            <a:cxnLst/>
            <a:rect r="r" b="b" t="t" l="l"/>
            <a:pathLst>
              <a:path h="3653815" w="4043457">
                <a:moveTo>
                  <a:pt x="0" y="0"/>
                </a:moveTo>
                <a:lnTo>
                  <a:pt x="4043457" y="0"/>
                </a:lnTo>
                <a:lnTo>
                  <a:pt x="4043457" y="3653815"/>
                </a:lnTo>
                <a:lnTo>
                  <a:pt x="0" y="365381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6971" y="92745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111600" y="-930666"/>
            <a:ext cx="5825142" cy="1959366"/>
          </a:xfrm>
          <a:custGeom>
            <a:avLst/>
            <a:gdLst/>
            <a:ahLst/>
            <a:cxnLst/>
            <a:rect r="r" b="b" t="t" l="l"/>
            <a:pathLst>
              <a:path h="1959366" w="5825142">
                <a:moveTo>
                  <a:pt x="0" y="0"/>
                </a:moveTo>
                <a:lnTo>
                  <a:pt x="5825142" y="0"/>
                </a:lnTo>
                <a:lnTo>
                  <a:pt x="5825142" y="1959366"/>
                </a:lnTo>
                <a:lnTo>
                  <a:pt x="0" y="195936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089895" y="9451010"/>
            <a:ext cx="4562782" cy="4114800"/>
          </a:xfrm>
          <a:custGeom>
            <a:avLst/>
            <a:gdLst/>
            <a:ahLst/>
            <a:cxnLst/>
            <a:rect r="r" b="b" t="t" l="l"/>
            <a:pathLst>
              <a:path h="4114800" w="4562782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524051" y="-561429"/>
            <a:ext cx="3441648" cy="2415411"/>
          </a:xfrm>
          <a:custGeom>
            <a:avLst/>
            <a:gdLst/>
            <a:ahLst/>
            <a:cxnLst/>
            <a:rect r="r" b="b" t="t" l="l"/>
            <a:pathLst>
              <a:path h="2415411" w="3441648">
                <a:moveTo>
                  <a:pt x="0" y="0"/>
                </a:moveTo>
                <a:lnTo>
                  <a:pt x="3441648" y="0"/>
                </a:lnTo>
                <a:lnTo>
                  <a:pt x="3441648" y="2415412"/>
                </a:lnTo>
                <a:lnTo>
                  <a:pt x="0" y="241541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180289" y="-2260817"/>
            <a:ext cx="4360578" cy="4114800"/>
          </a:xfrm>
          <a:custGeom>
            <a:avLst/>
            <a:gdLst/>
            <a:ahLst/>
            <a:cxnLst/>
            <a:rect r="r" b="b" t="t" l="l"/>
            <a:pathLst>
              <a:path h="4114800" w="4360578">
                <a:moveTo>
                  <a:pt x="0" y="0"/>
                </a:moveTo>
                <a:lnTo>
                  <a:pt x="4360578" y="0"/>
                </a:lnTo>
                <a:lnTo>
                  <a:pt x="436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588800" y="9075150"/>
            <a:ext cx="5280295" cy="1891306"/>
          </a:xfrm>
          <a:custGeom>
            <a:avLst/>
            <a:gdLst/>
            <a:ahLst/>
            <a:cxnLst/>
            <a:rect r="r" b="b" t="t" l="l"/>
            <a:pathLst>
              <a:path h="1891306" w="5280295">
                <a:moveTo>
                  <a:pt x="0" y="0"/>
                </a:moveTo>
                <a:lnTo>
                  <a:pt x="5280295" y="0"/>
                </a:lnTo>
                <a:lnTo>
                  <a:pt x="5280295" y="1891306"/>
                </a:lnTo>
                <a:lnTo>
                  <a:pt x="0" y="189130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534082" y="5159704"/>
            <a:ext cx="4562782" cy="4114800"/>
          </a:xfrm>
          <a:custGeom>
            <a:avLst/>
            <a:gdLst/>
            <a:ahLst/>
            <a:cxnLst/>
            <a:rect r="r" b="b" t="t" l="l"/>
            <a:pathLst>
              <a:path h="4114800" w="4562782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686569" y="4883905"/>
            <a:ext cx="1696695" cy="2316308"/>
          </a:xfrm>
          <a:custGeom>
            <a:avLst/>
            <a:gdLst/>
            <a:ahLst/>
            <a:cxnLst/>
            <a:rect r="r" b="b" t="t" l="l"/>
            <a:pathLst>
              <a:path h="2316308" w="1696695">
                <a:moveTo>
                  <a:pt x="0" y="0"/>
                </a:moveTo>
                <a:lnTo>
                  <a:pt x="1696696" y="0"/>
                </a:lnTo>
                <a:lnTo>
                  <a:pt x="1696696" y="2316308"/>
                </a:lnTo>
                <a:lnTo>
                  <a:pt x="0" y="2316308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500838" y="4926768"/>
            <a:ext cx="1525161" cy="2230583"/>
          </a:xfrm>
          <a:custGeom>
            <a:avLst/>
            <a:gdLst/>
            <a:ahLst/>
            <a:cxnLst/>
            <a:rect r="r" b="b" t="t" l="l"/>
            <a:pathLst>
              <a:path h="2230583" w="1525161">
                <a:moveTo>
                  <a:pt x="0" y="0"/>
                </a:moveTo>
                <a:lnTo>
                  <a:pt x="1525161" y="0"/>
                </a:lnTo>
                <a:lnTo>
                  <a:pt x="1525161" y="2230582"/>
                </a:lnTo>
                <a:lnTo>
                  <a:pt x="0" y="2230582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634177" y="4918322"/>
            <a:ext cx="2305102" cy="2247474"/>
          </a:xfrm>
          <a:custGeom>
            <a:avLst/>
            <a:gdLst/>
            <a:ahLst/>
            <a:cxnLst/>
            <a:rect r="r" b="b" t="t" l="l"/>
            <a:pathLst>
              <a:path h="2247474" w="2305102">
                <a:moveTo>
                  <a:pt x="0" y="0"/>
                </a:moveTo>
                <a:lnTo>
                  <a:pt x="2305101" y="0"/>
                </a:lnTo>
                <a:lnTo>
                  <a:pt x="2305101" y="2247474"/>
                </a:lnTo>
                <a:lnTo>
                  <a:pt x="0" y="2247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924444" y="4875459"/>
            <a:ext cx="1676987" cy="2333199"/>
          </a:xfrm>
          <a:custGeom>
            <a:avLst/>
            <a:gdLst/>
            <a:ahLst/>
            <a:cxnLst/>
            <a:rect r="r" b="b" t="t" l="l"/>
            <a:pathLst>
              <a:path h="2333199" w="1676987">
                <a:moveTo>
                  <a:pt x="0" y="0"/>
                </a:moveTo>
                <a:lnTo>
                  <a:pt x="1676987" y="0"/>
                </a:lnTo>
                <a:lnTo>
                  <a:pt x="1676987" y="2333200"/>
                </a:lnTo>
                <a:lnTo>
                  <a:pt x="0" y="2333200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DAHYu98QFZk</dc:identifier>
  <dcterms:modified xsi:type="dcterms:W3CDTF">2011-08-01T06:04:30Z</dcterms:modified>
  <cp:revision>1</cp:revision>
  <dc:title>Presentación vectores y matrices</dc:title>
</cp:coreProperties>
</file>